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563A8"/>
          </a:solidFill>
          <a:ln/>
        </p:spPr>
      </p:sp>
      <p:sp>
        <p:nvSpPr>
          <p:cNvPr id="3" name="Shape 1"/>
          <p:cNvSpPr/>
          <p:nvPr/>
        </p:nvSpPr>
        <p:spPr>
          <a:xfrm>
            <a:off x="6217920" y="0"/>
            <a:ext cx="2926080" cy="5143500"/>
          </a:xfrm>
          <a:prstGeom prst="rect">
            <a:avLst/>
          </a:prstGeom>
          <a:solidFill>
            <a:srgbClr val="243D5C"/>
          </a:solidFill>
          <a:ln/>
        </p:spPr>
      </p:sp>
      <p:sp>
        <p:nvSpPr>
          <p:cNvPr id="4" name="Shape 2"/>
          <p:cNvSpPr/>
          <p:nvPr/>
        </p:nvSpPr>
        <p:spPr>
          <a:xfrm>
            <a:off x="502920" y="804672"/>
            <a:ext cx="347472" cy="36576"/>
          </a:xfrm>
          <a:prstGeom prst="rect">
            <a:avLst/>
          </a:prstGeom>
          <a:solidFill>
            <a:srgbClr val="2563A8"/>
          </a:solidFill>
          <a:ln/>
        </p:spPr>
      </p:sp>
      <p:sp>
        <p:nvSpPr>
          <p:cNvPr id="5" name="Text 3"/>
          <p:cNvSpPr/>
          <p:nvPr/>
        </p:nvSpPr>
        <p:spPr>
          <a:xfrm>
            <a:off x="502920" y="384048"/>
            <a:ext cx="5486400" cy="274320"/>
          </a:xfrm>
          <a:prstGeom prst="rect">
            <a:avLst/>
          </a:prstGeom>
          <a:noFill/>
          <a:ln/>
        </p:spPr>
        <p:txBody>
          <a:bodyPr wrap="square" rtlCol="0" anchor="ctr"/>
          <a:lstStyle/>
          <a:p>
            <a:pPr indent="0" marL="0">
              <a:buNone/>
            </a:pPr>
            <a:r>
              <a:rPr lang="en-US" sz="850" spc="150" kern="0" dirty="0">
                <a:solidFill>
                  <a:srgbClr val="8096AE"/>
                </a:solidFill>
                <a:latin typeface="Calibri" pitchFamily="34" charset="0"/>
                <a:ea typeface="Calibri" pitchFamily="34" charset="-122"/>
                <a:cs typeface="Calibri" pitchFamily="34" charset="-120"/>
              </a:rPr>
              <a:t>CLOUD PLATFORM PROGRAMMING  —  MSc CLOUD COMPUTING</a:t>
            </a:r>
            <a:endParaRPr lang="en-US" sz="850" dirty="0"/>
          </a:p>
        </p:txBody>
      </p:sp>
      <p:sp>
        <p:nvSpPr>
          <p:cNvPr id="6" name="Text 4"/>
          <p:cNvSpPr/>
          <p:nvPr/>
        </p:nvSpPr>
        <p:spPr>
          <a:xfrm>
            <a:off x="502920" y="932688"/>
            <a:ext cx="5577840" cy="2011680"/>
          </a:xfrm>
          <a:prstGeom prst="rect">
            <a:avLst/>
          </a:prstGeom>
          <a:noFill/>
          <a:ln/>
        </p:spPr>
        <p:txBody>
          <a:bodyPr wrap="square" rtlCol="0" anchor="ctr"/>
          <a:lstStyle/>
          <a:p>
            <a:pPr indent="0" marL="0">
              <a:lnSpc>
                <a:spcPct val="125000"/>
              </a:lnSpc>
              <a:buNone/>
            </a:pPr>
            <a:r>
              <a:rPr lang="en-US" sz="3000" b="1" dirty="0">
                <a:solidFill>
                  <a:srgbClr val="FFFFFF"/>
                </a:solidFill>
                <a:latin typeface="Calibri" pitchFamily="34" charset="0"/>
                <a:ea typeface="Calibri" pitchFamily="34" charset="-122"/>
                <a:cs typeface="Calibri" pitchFamily="34" charset="-120"/>
              </a:rPr>
              <a:t>Cloud-Based Event Registration</a:t>
            </a:r>
            <a:endParaRPr lang="en-US" sz="3000" dirty="0"/>
          </a:p>
          <a:p>
            <a:pPr indent="0" marL="0">
              <a:lnSpc>
                <a:spcPct val="125000"/>
              </a:lnSpc>
              <a:buNone/>
            </a:pPr>
            <a:r>
              <a:rPr lang="en-US" sz="3000" b="1" dirty="0">
                <a:solidFill>
                  <a:srgbClr val="FFFFFF"/>
                </a:solidFill>
                <a:latin typeface="Calibri" pitchFamily="34" charset="0"/>
                <a:ea typeface="Calibri" pitchFamily="34" charset="-122"/>
                <a:cs typeface="Calibri" pitchFamily="34" charset="-120"/>
              </a:rPr>
              <a:t>and QR Ticket Validation System</a:t>
            </a:r>
            <a:endParaRPr lang="en-US" sz="3000" dirty="0"/>
          </a:p>
        </p:txBody>
      </p:sp>
      <p:sp>
        <p:nvSpPr>
          <p:cNvPr id="7" name="Shape 5"/>
          <p:cNvSpPr/>
          <p:nvPr/>
        </p:nvSpPr>
        <p:spPr>
          <a:xfrm>
            <a:off x="502920" y="3017520"/>
            <a:ext cx="5029200" cy="27432"/>
          </a:xfrm>
          <a:prstGeom prst="rect">
            <a:avLst/>
          </a:prstGeom>
          <a:solidFill>
            <a:srgbClr val="8096AE"/>
          </a:solidFill>
          <a:ln/>
        </p:spPr>
      </p:sp>
      <p:sp>
        <p:nvSpPr>
          <p:cNvPr id="8" name="Text 6"/>
          <p:cNvSpPr/>
          <p:nvPr/>
        </p:nvSpPr>
        <p:spPr>
          <a:xfrm>
            <a:off x="502920" y="3154680"/>
            <a:ext cx="1645920" cy="201168"/>
          </a:xfrm>
          <a:prstGeom prst="rect">
            <a:avLst/>
          </a:prstGeom>
          <a:noFill/>
          <a:ln/>
        </p:spPr>
        <p:txBody>
          <a:bodyPr wrap="square" rtlCol="0" anchor="ctr"/>
          <a:lstStyle/>
          <a:p>
            <a:pPr indent="0" marL="0">
              <a:buNone/>
            </a:pPr>
            <a:r>
              <a:rPr lang="en-US" sz="700" b="1" spc="100" kern="0" dirty="0">
                <a:solidFill>
                  <a:srgbClr val="8096AE"/>
                </a:solidFill>
                <a:latin typeface="Calibri" pitchFamily="34" charset="0"/>
                <a:ea typeface="Calibri" pitchFamily="34" charset="-122"/>
                <a:cs typeface="Calibri" pitchFamily="34" charset="-120"/>
              </a:rPr>
              <a:t>PROGRAMME</a:t>
            </a:r>
            <a:endParaRPr lang="en-US" sz="700" dirty="0"/>
          </a:p>
        </p:txBody>
      </p:sp>
      <p:sp>
        <p:nvSpPr>
          <p:cNvPr id="9" name="Text 7"/>
          <p:cNvSpPr/>
          <p:nvPr/>
        </p:nvSpPr>
        <p:spPr>
          <a:xfrm>
            <a:off x="502920" y="3337560"/>
            <a:ext cx="1645920" cy="36576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MSc Cloud Computing</a:t>
            </a:r>
            <a:endParaRPr lang="en-US" sz="1000" dirty="0"/>
          </a:p>
        </p:txBody>
      </p:sp>
      <p:sp>
        <p:nvSpPr>
          <p:cNvPr id="10" name="Text 8"/>
          <p:cNvSpPr/>
          <p:nvPr/>
        </p:nvSpPr>
        <p:spPr>
          <a:xfrm>
            <a:off x="2286000" y="3154680"/>
            <a:ext cx="1645920" cy="201168"/>
          </a:xfrm>
          <a:prstGeom prst="rect">
            <a:avLst/>
          </a:prstGeom>
          <a:noFill/>
          <a:ln/>
        </p:spPr>
        <p:txBody>
          <a:bodyPr wrap="square" rtlCol="0" anchor="ctr"/>
          <a:lstStyle/>
          <a:p>
            <a:pPr indent="0" marL="0">
              <a:buNone/>
            </a:pPr>
            <a:r>
              <a:rPr lang="en-US" sz="700" b="1" spc="100" kern="0" dirty="0">
                <a:solidFill>
                  <a:srgbClr val="8096AE"/>
                </a:solidFill>
                <a:latin typeface="Calibri" pitchFamily="34" charset="0"/>
                <a:ea typeface="Calibri" pitchFamily="34" charset="-122"/>
                <a:cs typeface="Calibri" pitchFamily="34" charset="-120"/>
              </a:rPr>
              <a:t>MODULE</a:t>
            </a:r>
            <a:endParaRPr lang="en-US" sz="700" dirty="0"/>
          </a:p>
        </p:txBody>
      </p:sp>
      <p:sp>
        <p:nvSpPr>
          <p:cNvPr id="11" name="Text 9"/>
          <p:cNvSpPr/>
          <p:nvPr/>
        </p:nvSpPr>
        <p:spPr>
          <a:xfrm>
            <a:off x="2286000" y="3337560"/>
            <a:ext cx="1645920" cy="36576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Cloud Platform Programming</a:t>
            </a:r>
            <a:endParaRPr lang="en-US" sz="1000" dirty="0"/>
          </a:p>
        </p:txBody>
      </p:sp>
      <p:sp>
        <p:nvSpPr>
          <p:cNvPr id="12" name="Text 10"/>
          <p:cNvSpPr/>
          <p:nvPr/>
        </p:nvSpPr>
        <p:spPr>
          <a:xfrm>
            <a:off x="4069080" y="3154680"/>
            <a:ext cx="1645920" cy="201168"/>
          </a:xfrm>
          <a:prstGeom prst="rect">
            <a:avLst/>
          </a:prstGeom>
          <a:noFill/>
          <a:ln/>
        </p:spPr>
        <p:txBody>
          <a:bodyPr wrap="square" rtlCol="0" anchor="ctr"/>
          <a:lstStyle/>
          <a:p>
            <a:pPr indent="0" marL="0">
              <a:buNone/>
            </a:pPr>
            <a:r>
              <a:rPr lang="en-US" sz="700" b="1" spc="100" kern="0" dirty="0">
                <a:solidFill>
                  <a:srgbClr val="8096AE"/>
                </a:solidFill>
                <a:latin typeface="Calibri" pitchFamily="34" charset="0"/>
                <a:ea typeface="Calibri" pitchFamily="34" charset="-122"/>
                <a:cs typeface="Calibri" pitchFamily="34" charset="-120"/>
              </a:rPr>
              <a:t>DATE</a:t>
            </a:r>
            <a:endParaRPr lang="en-US" sz="700" dirty="0"/>
          </a:p>
        </p:txBody>
      </p:sp>
      <p:sp>
        <p:nvSpPr>
          <p:cNvPr id="13" name="Text 11"/>
          <p:cNvSpPr/>
          <p:nvPr/>
        </p:nvSpPr>
        <p:spPr>
          <a:xfrm>
            <a:off x="4069080" y="3337560"/>
            <a:ext cx="1645920" cy="36576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2025</a:t>
            </a:r>
            <a:endParaRPr lang="en-US" sz="1000" dirty="0"/>
          </a:p>
        </p:txBody>
      </p:sp>
      <p:sp>
        <p:nvSpPr>
          <p:cNvPr id="14" name="Text 12"/>
          <p:cNvSpPr/>
          <p:nvPr/>
        </p:nvSpPr>
        <p:spPr>
          <a:xfrm rot="5400000">
            <a:off x="6537960" y="2194560"/>
            <a:ext cx="2286000" cy="320040"/>
          </a:xfrm>
          <a:prstGeom prst="rect">
            <a:avLst/>
          </a:prstGeom>
          <a:noFill/>
          <a:ln/>
        </p:spPr>
        <p:txBody>
          <a:bodyPr wrap="square" rtlCol="0" anchor="ctr"/>
          <a:lstStyle/>
          <a:p>
            <a:pPr algn="ctr" indent="0" marL="0">
              <a:buNone/>
            </a:pPr>
            <a:r>
              <a:rPr lang="en-US" sz="900" dirty="0">
                <a:solidFill>
                  <a:srgbClr val="8096AE"/>
                </a:solidFill>
                <a:latin typeface="Calibri" pitchFamily="34" charset="0"/>
                <a:ea typeface="Calibri" pitchFamily="34" charset="-122"/>
                <a:cs typeface="Calibri" pitchFamily="34" charset="-120"/>
              </a:rPr>
              <a:t>MSc Cloud Computing</a:t>
            </a:r>
            <a:endParaRPr lang="en-US" sz="900" dirty="0"/>
          </a:p>
        </p:txBody>
      </p:sp>
      <p:sp>
        <p:nvSpPr>
          <p:cNvPr id="15" name="Text 13"/>
          <p:cNvSpPr/>
          <p:nvPr/>
        </p:nvSpPr>
        <p:spPr>
          <a:xfrm>
            <a:off x="8732520" y="4846320"/>
            <a:ext cx="320040" cy="201168"/>
          </a:xfrm>
          <a:prstGeom prst="rect">
            <a:avLst/>
          </a:prstGeom>
          <a:noFill/>
          <a:ln/>
        </p:spPr>
        <p:txBody>
          <a:bodyPr wrap="square" rtlCol="0" anchor="ctr"/>
          <a:lstStyle/>
          <a:p>
            <a:pPr algn="r" indent="0" marL="0">
              <a:buNone/>
            </a:pPr>
            <a:r>
              <a:rPr lang="en-US" sz="800" dirty="0">
                <a:solidFill>
                  <a:srgbClr val="8096AE"/>
                </a:solidFill>
                <a:latin typeface="Calibri" pitchFamily="34" charset="0"/>
                <a:ea typeface="Calibri" pitchFamily="34" charset="-122"/>
                <a:cs typeface="Calibri"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p:spPr>
      </p:sp>
      <p:sp>
        <p:nvSpPr>
          <p:cNvPr id="3" name="Shape 1"/>
          <p:cNvSpPr/>
          <p:nvPr/>
        </p:nvSpPr>
        <p:spPr>
          <a:xfrm>
            <a:off x="0" y="0"/>
            <a:ext cx="164592" cy="1005840"/>
          </a:xfrm>
          <a:prstGeom prst="rect">
            <a:avLst/>
          </a:prstGeom>
          <a:solidFill>
            <a:srgbClr val="2563A8"/>
          </a:solidFill>
          <a:ln/>
        </p:spPr>
      </p:sp>
      <p:sp>
        <p:nvSpPr>
          <p:cNvPr id="4" name="Text 2"/>
          <p:cNvSpPr/>
          <p:nvPr/>
        </p:nvSpPr>
        <p:spPr>
          <a:xfrm>
            <a:off x="411480" y="164592"/>
            <a:ext cx="8229600" cy="228600"/>
          </a:xfrm>
          <a:prstGeom prst="rect">
            <a:avLst/>
          </a:prstGeom>
          <a:noFill/>
          <a:ln/>
        </p:spPr>
        <p:txBody>
          <a:bodyPr wrap="square" rtlCol="0" anchor="ctr"/>
          <a:lstStyle/>
          <a:p>
            <a:pPr indent="0" marL="0">
              <a:buNone/>
            </a:pPr>
            <a:r>
              <a:rPr lang="en-US" sz="800" b="1" spc="150" kern="0" dirty="0">
                <a:solidFill>
                  <a:srgbClr val="8096AE"/>
                </a:solidFill>
                <a:latin typeface="Calibri" pitchFamily="34" charset="0"/>
                <a:ea typeface="Calibri" pitchFamily="34" charset="-122"/>
                <a:cs typeface="Calibri" pitchFamily="34" charset="-120"/>
              </a:rPr>
              <a:t>BACKGROUND &amp; PROBLEM STATEMENT</a:t>
            </a:r>
            <a:endParaRPr lang="en-US" sz="800" dirty="0"/>
          </a:p>
        </p:txBody>
      </p:sp>
      <p:sp>
        <p:nvSpPr>
          <p:cNvPr id="5" name="Text 3"/>
          <p:cNvSpPr/>
          <p:nvPr/>
        </p:nvSpPr>
        <p:spPr>
          <a:xfrm>
            <a:off x="411480" y="402336"/>
            <a:ext cx="8229600" cy="42062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a New System is Needed</a:t>
            </a:r>
            <a:endParaRPr lang="en-US" sz="2200" dirty="0"/>
          </a:p>
        </p:txBody>
      </p:sp>
      <p:sp>
        <p:nvSpPr>
          <p:cNvPr id="6" name="Text 4"/>
          <p:cNvSpPr/>
          <p:nvPr/>
        </p:nvSpPr>
        <p:spPr>
          <a:xfrm>
            <a:off x="411480" y="1170432"/>
            <a:ext cx="4023360" cy="310896"/>
          </a:xfrm>
          <a:prstGeom prst="rect">
            <a:avLst/>
          </a:prstGeom>
          <a:noFill/>
          <a:ln/>
        </p:spPr>
        <p:txBody>
          <a:bodyPr wrap="square" rtlCol="0" anchor="ctr"/>
          <a:lstStyle/>
          <a:p>
            <a:pPr indent="0" marL="0">
              <a:buNone/>
            </a:pPr>
            <a:r>
              <a:rPr lang="en-US" sz="1400" b="1" dirty="0">
                <a:solidFill>
                  <a:srgbClr val="1A2E4A"/>
                </a:solidFill>
                <a:latin typeface="Calibri" pitchFamily="34" charset="0"/>
                <a:ea typeface="Calibri" pitchFamily="34" charset="-122"/>
                <a:cs typeface="Calibri" pitchFamily="34" charset="-120"/>
              </a:rPr>
              <a:t>The Current Situation</a:t>
            </a:r>
            <a:endParaRPr lang="en-US" sz="1400" dirty="0"/>
          </a:p>
        </p:txBody>
      </p:sp>
      <p:sp>
        <p:nvSpPr>
          <p:cNvPr id="7" name="Text 5"/>
          <p:cNvSpPr/>
          <p:nvPr/>
        </p:nvSpPr>
        <p:spPr>
          <a:xfrm>
            <a:off x="411480" y="1481328"/>
            <a:ext cx="3931920" cy="1051560"/>
          </a:xfrm>
          <a:prstGeom prst="rect">
            <a:avLst/>
          </a:prstGeom>
          <a:noFill/>
          <a:ln/>
        </p:spPr>
        <p:txBody>
          <a:bodyPr wrap="square" rtlCol="0" anchor="ctr"/>
          <a:lstStyle/>
          <a:p>
            <a:pPr indent="0" marL="0">
              <a:lnSpc>
                <a:spcPct val="150000"/>
              </a:lnSpc>
              <a:buNone/>
            </a:pPr>
            <a:r>
              <a:rPr lang="en-US" sz="1050" dirty="0">
                <a:solidFill>
                  <a:srgbClr val="4A5D72"/>
                </a:solidFill>
                <a:latin typeface="Calibri" pitchFamily="34" charset="0"/>
                <a:ea typeface="Calibri" pitchFamily="34" charset="-122"/>
                <a:cs typeface="Calibri" pitchFamily="34" charset="-120"/>
              </a:rPr>
              <a:t>Event management across universities and organisations continues to rely on manual processes that are insecure, inefficient, and unable to scale. As event complexity and attendance grow, these gaps become critical operational failures.</a:t>
            </a:r>
            <a:endParaRPr lang="en-US" sz="1050" dirty="0"/>
          </a:p>
        </p:txBody>
      </p:sp>
      <p:sp>
        <p:nvSpPr>
          <p:cNvPr id="8" name="Shape 6"/>
          <p:cNvSpPr/>
          <p:nvPr/>
        </p:nvSpPr>
        <p:spPr>
          <a:xfrm>
            <a:off x="411480" y="2651760"/>
            <a:ext cx="1938528" cy="1051560"/>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9" name="Shape 7"/>
          <p:cNvSpPr/>
          <p:nvPr/>
        </p:nvSpPr>
        <p:spPr>
          <a:xfrm>
            <a:off x="411480" y="2651760"/>
            <a:ext cx="1938528" cy="45720"/>
          </a:xfrm>
          <a:prstGeom prst="rect">
            <a:avLst/>
          </a:prstGeom>
          <a:solidFill>
            <a:srgbClr val="2563A8"/>
          </a:solidFill>
          <a:ln/>
        </p:spPr>
      </p:sp>
      <p:sp>
        <p:nvSpPr>
          <p:cNvPr id="10" name="Text 8"/>
          <p:cNvSpPr/>
          <p:nvPr/>
        </p:nvSpPr>
        <p:spPr>
          <a:xfrm>
            <a:off x="539496" y="2743200"/>
            <a:ext cx="1691640" cy="256032"/>
          </a:xfrm>
          <a:prstGeom prst="rect">
            <a:avLst/>
          </a:prstGeom>
          <a:noFill/>
          <a:ln/>
        </p:spPr>
        <p:txBody>
          <a:bodyPr wrap="square" rtlCol="0" anchor="ctr"/>
          <a:lstStyle/>
          <a:p>
            <a:pPr indent="0" marL="0">
              <a:buNone/>
            </a:pPr>
            <a:r>
              <a:rPr lang="en-US" sz="1000" b="1" dirty="0">
                <a:solidFill>
                  <a:srgbClr val="1A2E4A"/>
                </a:solidFill>
                <a:latin typeface="Calibri" pitchFamily="34" charset="0"/>
                <a:ea typeface="Calibri" pitchFamily="34" charset="-122"/>
                <a:cs typeface="Calibri" pitchFamily="34" charset="-120"/>
              </a:rPr>
              <a:t>Manual Registration</a:t>
            </a:r>
            <a:endParaRPr lang="en-US" sz="1000" dirty="0"/>
          </a:p>
        </p:txBody>
      </p:sp>
      <p:sp>
        <p:nvSpPr>
          <p:cNvPr id="11" name="Text 9"/>
          <p:cNvSpPr/>
          <p:nvPr/>
        </p:nvSpPr>
        <p:spPr>
          <a:xfrm>
            <a:off x="539496" y="3017520"/>
            <a:ext cx="1691640" cy="621792"/>
          </a:xfrm>
          <a:prstGeom prst="rect">
            <a:avLst/>
          </a:prstGeom>
          <a:noFill/>
          <a:ln/>
        </p:spPr>
        <p:txBody>
          <a:bodyPr wrap="square" rtlCol="0" anchor="ctr"/>
          <a:lstStyle/>
          <a:p>
            <a:pPr indent="0" marL="0">
              <a:lnSpc>
                <a:spcPct val="135000"/>
              </a:lnSpc>
              <a:buNone/>
            </a:pPr>
            <a:r>
              <a:rPr lang="en-US" sz="850" dirty="0">
                <a:solidFill>
                  <a:srgbClr val="4A5D72"/>
                </a:solidFill>
                <a:latin typeface="Calibri" pitchFamily="34" charset="0"/>
                <a:ea typeface="Calibri" pitchFamily="34" charset="-122"/>
                <a:cs typeface="Calibri" pitchFamily="34" charset="-120"/>
              </a:rPr>
              <a:t>Paper forms and unvalidated online submissions introduce data integrity and accountability risks.</a:t>
            </a:r>
            <a:endParaRPr lang="en-US" sz="850" dirty="0"/>
          </a:p>
        </p:txBody>
      </p:sp>
      <p:sp>
        <p:nvSpPr>
          <p:cNvPr id="12" name="Shape 10"/>
          <p:cNvSpPr/>
          <p:nvPr/>
        </p:nvSpPr>
        <p:spPr>
          <a:xfrm>
            <a:off x="2468880" y="2651760"/>
            <a:ext cx="1938528" cy="1051560"/>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2468880" y="2651760"/>
            <a:ext cx="1938528" cy="45720"/>
          </a:xfrm>
          <a:prstGeom prst="rect">
            <a:avLst/>
          </a:prstGeom>
          <a:solidFill>
            <a:srgbClr val="2563A8"/>
          </a:solidFill>
          <a:ln/>
        </p:spPr>
      </p:sp>
      <p:sp>
        <p:nvSpPr>
          <p:cNvPr id="14" name="Text 12"/>
          <p:cNvSpPr/>
          <p:nvPr/>
        </p:nvSpPr>
        <p:spPr>
          <a:xfrm>
            <a:off x="2596896" y="2743200"/>
            <a:ext cx="1691640" cy="256032"/>
          </a:xfrm>
          <a:prstGeom prst="rect">
            <a:avLst/>
          </a:prstGeom>
          <a:noFill/>
          <a:ln/>
        </p:spPr>
        <p:txBody>
          <a:bodyPr wrap="square" rtlCol="0" anchor="ctr"/>
          <a:lstStyle/>
          <a:p>
            <a:pPr indent="0" marL="0">
              <a:buNone/>
            </a:pPr>
            <a:r>
              <a:rPr lang="en-US" sz="1000" b="1" dirty="0">
                <a:solidFill>
                  <a:srgbClr val="1A2E4A"/>
                </a:solidFill>
                <a:latin typeface="Calibri" pitchFamily="34" charset="0"/>
                <a:ea typeface="Calibri" pitchFamily="34" charset="-122"/>
                <a:cs typeface="Calibri" pitchFamily="34" charset="-120"/>
              </a:rPr>
              <a:t>No Ticket Validation</a:t>
            </a:r>
            <a:endParaRPr lang="en-US" sz="1000" dirty="0"/>
          </a:p>
        </p:txBody>
      </p:sp>
      <p:sp>
        <p:nvSpPr>
          <p:cNvPr id="15" name="Text 13"/>
          <p:cNvSpPr/>
          <p:nvPr/>
        </p:nvSpPr>
        <p:spPr>
          <a:xfrm>
            <a:off x="2596896" y="3017520"/>
            <a:ext cx="1691640" cy="621792"/>
          </a:xfrm>
          <a:prstGeom prst="rect">
            <a:avLst/>
          </a:prstGeom>
          <a:noFill/>
          <a:ln/>
        </p:spPr>
        <p:txBody>
          <a:bodyPr wrap="square" rtlCol="0" anchor="ctr"/>
          <a:lstStyle/>
          <a:p>
            <a:pPr indent="0" marL="0">
              <a:lnSpc>
                <a:spcPct val="135000"/>
              </a:lnSpc>
              <a:buNone/>
            </a:pPr>
            <a:r>
              <a:rPr lang="en-US" sz="850" dirty="0">
                <a:solidFill>
                  <a:srgbClr val="4A5D72"/>
                </a:solidFill>
                <a:latin typeface="Calibri" pitchFamily="34" charset="0"/>
                <a:ea typeface="Calibri" pitchFamily="34" charset="-122"/>
                <a:cs typeface="Calibri" pitchFamily="34" charset="-120"/>
              </a:rPr>
              <a:t>Absence of digital ticket verification creates opportunities for fraud and unauthorised entry.</a:t>
            </a:r>
            <a:endParaRPr lang="en-US" sz="850" dirty="0"/>
          </a:p>
        </p:txBody>
      </p:sp>
      <p:sp>
        <p:nvSpPr>
          <p:cNvPr id="16" name="Shape 14"/>
          <p:cNvSpPr/>
          <p:nvPr/>
        </p:nvSpPr>
        <p:spPr>
          <a:xfrm>
            <a:off x="411480" y="3840480"/>
            <a:ext cx="1938528" cy="1051560"/>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17" name="Shape 15"/>
          <p:cNvSpPr/>
          <p:nvPr/>
        </p:nvSpPr>
        <p:spPr>
          <a:xfrm>
            <a:off x="411480" y="3840480"/>
            <a:ext cx="1938528" cy="45720"/>
          </a:xfrm>
          <a:prstGeom prst="rect">
            <a:avLst/>
          </a:prstGeom>
          <a:solidFill>
            <a:srgbClr val="2563A8"/>
          </a:solidFill>
          <a:ln/>
        </p:spPr>
      </p:sp>
      <p:sp>
        <p:nvSpPr>
          <p:cNvPr id="18" name="Text 16"/>
          <p:cNvSpPr/>
          <p:nvPr/>
        </p:nvSpPr>
        <p:spPr>
          <a:xfrm>
            <a:off x="539496" y="3931920"/>
            <a:ext cx="1691640" cy="256032"/>
          </a:xfrm>
          <a:prstGeom prst="rect">
            <a:avLst/>
          </a:prstGeom>
          <a:noFill/>
          <a:ln/>
        </p:spPr>
        <p:txBody>
          <a:bodyPr wrap="square" rtlCol="0" anchor="ctr"/>
          <a:lstStyle/>
          <a:p>
            <a:pPr indent="0" marL="0">
              <a:buNone/>
            </a:pPr>
            <a:r>
              <a:rPr lang="en-US" sz="1000" b="1" dirty="0">
                <a:solidFill>
                  <a:srgbClr val="1A2E4A"/>
                </a:solidFill>
                <a:latin typeface="Calibri" pitchFamily="34" charset="0"/>
                <a:ea typeface="Calibri" pitchFamily="34" charset="-122"/>
                <a:cs typeface="Calibri" pitchFamily="34" charset="-120"/>
              </a:rPr>
              <a:t>No Real-Time Tracking</a:t>
            </a:r>
            <a:endParaRPr lang="en-US" sz="1000" dirty="0"/>
          </a:p>
        </p:txBody>
      </p:sp>
      <p:sp>
        <p:nvSpPr>
          <p:cNvPr id="19" name="Text 17"/>
          <p:cNvSpPr/>
          <p:nvPr/>
        </p:nvSpPr>
        <p:spPr>
          <a:xfrm>
            <a:off x="539496" y="4206240"/>
            <a:ext cx="1691640" cy="621792"/>
          </a:xfrm>
          <a:prstGeom prst="rect">
            <a:avLst/>
          </a:prstGeom>
          <a:noFill/>
          <a:ln/>
        </p:spPr>
        <p:txBody>
          <a:bodyPr wrap="square" rtlCol="0" anchor="ctr"/>
          <a:lstStyle/>
          <a:p>
            <a:pPr indent="0" marL="0">
              <a:lnSpc>
                <a:spcPct val="135000"/>
              </a:lnSpc>
              <a:buNone/>
            </a:pPr>
            <a:r>
              <a:rPr lang="en-US" sz="850" dirty="0">
                <a:solidFill>
                  <a:srgbClr val="4A5D72"/>
                </a:solidFill>
                <a:latin typeface="Calibri" pitchFamily="34" charset="0"/>
                <a:ea typeface="Calibri" pitchFamily="34" charset="-122"/>
                <a:cs typeface="Calibri" pitchFamily="34" charset="-120"/>
              </a:rPr>
              <a:t>Live attendance figures are unavailable, making crowd management and reporting impossible.</a:t>
            </a:r>
            <a:endParaRPr lang="en-US" sz="850" dirty="0"/>
          </a:p>
        </p:txBody>
      </p:sp>
      <p:sp>
        <p:nvSpPr>
          <p:cNvPr id="20" name="Shape 18"/>
          <p:cNvSpPr/>
          <p:nvPr/>
        </p:nvSpPr>
        <p:spPr>
          <a:xfrm>
            <a:off x="2468880" y="3840480"/>
            <a:ext cx="1938528" cy="1051560"/>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21" name="Shape 19"/>
          <p:cNvSpPr/>
          <p:nvPr/>
        </p:nvSpPr>
        <p:spPr>
          <a:xfrm>
            <a:off x="2468880" y="3840480"/>
            <a:ext cx="1938528" cy="45720"/>
          </a:xfrm>
          <a:prstGeom prst="rect">
            <a:avLst/>
          </a:prstGeom>
          <a:solidFill>
            <a:srgbClr val="2563A8"/>
          </a:solidFill>
          <a:ln/>
        </p:spPr>
      </p:sp>
      <p:sp>
        <p:nvSpPr>
          <p:cNvPr id="22" name="Text 20"/>
          <p:cNvSpPr/>
          <p:nvPr/>
        </p:nvSpPr>
        <p:spPr>
          <a:xfrm>
            <a:off x="2596896" y="3931920"/>
            <a:ext cx="1691640" cy="256032"/>
          </a:xfrm>
          <a:prstGeom prst="rect">
            <a:avLst/>
          </a:prstGeom>
          <a:noFill/>
          <a:ln/>
        </p:spPr>
        <p:txBody>
          <a:bodyPr wrap="square" rtlCol="0" anchor="ctr"/>
          <a:lstStyle/>
          <a:p>
            <a:pPr indent="0" marL="0">
              <a:buNone/>
            </a:pPr>
            <a:r>
              <a:rPr lang="en-US" sz="1000" b="1" dirty="0">
                <a:solidFill>
                  <a:srgbClr val="1A2E4A"/>
                </a:solidFill>
                <a:latin typeface="Calibri" pitchFamily="34" charset="0"/>
                <a:ea typeface="Calibri" pitchFamily="34" charset="-122"/>
                <a:cs typeface="Calibri" pitchFamily="34" charset="-120"/>
              </a:rPr>
              <a:t>Poor Scalability</a:t>
            </a:r>
            <a:endParaRPr lang="en-US" sz="1000" dirty="0"/>
          </a:p>
        </p:txBody>
      </p:sp>
      <p:sp>
        <p:nvSpPr>
          <p:cNvPr id="23" name="Text 21"/>
          <p:cNvSpPr/>
          <p:nvPr/>
        </p:nvSpPr>
        <p:spPr>
          <a:xfrm>
            <a:off x="2596896" y="4206240"/>
            <a:ext cx="1691640" cy="621792"/>
          </a:xfrm>
          <a:prstGeom prst="rect">
            <a:avLst/>
          </a:prstGeom>
          <a:noFill/>
          <a:ln/>
        </p:spPr>
        <p:txBody>
          <a:bodyPr wrap="square" rtlCol="0" anchor="ctr"/>
          <a:lstStyle/>
          <a:p>
            <a:pPr indent="0" marL="0">
              <a:lnSpc>
                <a:spcPct val="135000"/>
              </a:lnSpc>
              <a:buNone/>
            </a:pPr>
            <a:r>
              <a:rPr lang="en-US" sz="850" dirty="0">
                <a:solidFill>
                  <a:srgbClr val="4A5D72"/>
                </a:solidFill>
                <a:latin typeface="Calibri" pitchFamily="34" charset="0"/>
                <a:ea typeface="Calibri" pitchFamily="34" charset="-122"/>
                <a:cs typeface="Calibri" pitchFamily="34" charset="-120"/>
              </a:rPr>
              <a:t>Existing systems have no cloud-native infrastructure and cannot handle high-volume events.</a:t>
            </a:r>
            <a:endParaRPr lang="en-US" sz="850" dirty="0"/>
          </a:p>
        </p:txBody>
      </p:sp>
      <p:sp>
        <p:nvSpPr>
          <p:cNvPr id="24" name="Shape 22"/>
          <p:cNvSpPr/>
          <p:nvPr/>
        </p:nvSpPr>
        <p:spPr>
          <a:xfrm>
            <a:off x="4645152" y="1170432"/>
            <a:ext cx="4087368" cy="3703320"/>
          </a:xfrm>
          <a:prstGeom prst="rect">
            <a:avLst/>
          </a:prstGeom>
          <a:solidFill>
            <a:srgbClr val="1A2E4A"/>
          </a:solidFill>
          <a:ln/>
        </p:spPr>
      </p:sp>
      <p:sp>
        <p:nvSpPr>
          <p:cNvPr id="25" name="Shape 23"/>
          <p:cNvSpPr/>
          <p:nvPr/>
        </p:nvSpPr>
        <p:spPr>
          <a:xfrm>
            <a:off x="4645152" y="1170432"/>
            <a:ext cx="54864" cy="3703320"/>
          </a:xfrm>
          <a:prstGeom prst="rect">
            <a:avLst/>
          </a:prstGeom>
          <a:solidFill>
            <a:srgbClr val="2563A8"/>
          </a:solidFill>
          <a:ln/>
        </p:spPr>
      </p:sp>
      <p:sp>
        <p:nvSpPr>
          <p:cNvPr id="26" name="Text 24"/>
          <p:cNvSpPr/>
          <p:nvPr/>
        </p:nvSpPr>
        <p:spPr>
          <a:xfrm>
            <a:off x="4791456" y="1335024"/>
            <a:ext cx="3794760" cy="219456"/>
          </a:xfrm>
          <a:prstGeom prst="rect">
            <a:avLst/>
          </a:prstGeom>
          <a:noFill/>
          <a:ln/>
        </p:spPr>
        <p:txBody>
          <a:bodyPr wrap="square" rtlCol="0" anchor="ctr"/>
          <a:lstStyle/>
          <a:p>
            <a:pPr indent="0" marL="0">
              <a:buNone/>
            </a:pPr>
            <a:r>
              <a:rPr lang="en-US" sz="800" b="1" spc="200" kern="0" dirty="0">
                <a:solidFill>
                  <a:srgbClr val="8096AE"/>
                </a:solidFill>
                <a:latin typeface="Calibri" pitchFamily="34" charset="0"/>
                <a:ea typeface="Calibri" pitchFamily="34" charset="-122"/>
                <a:cs typeface="Calibri" pitchFamily="34" charset="-120"/>
              </a:rPr>
              <a:t>IMPACT</a:t>
            </a:r>
            <a:endParaRPr lang="en-US" sz="800" dirty="0"/>
          </a:p>
        </p:txBody>
      </p:sp>
      <p:sp>
        <p:nvSpPr>
          <p:cNvPr id="27" name="Text 25"/>
          <p:cNvSpPr/>
          <p:nvPr/>
        </p:nvSpPr>
        <p:spPr>
          <a:xfrm>
            <a:off x="4791456" y="1627632"/>
            <a:ext cx="3749040" cy="914400"/>
          </a:xfrm>
          <a:prstGeom prst="rect">
            <a:avLst/>
          </a:prstGeom>
          <a:noFill/>
          <a:ln/>
        </p:spPr>
        <p:txBody>
          <a:bodyPr wrap="square" rtlCol="0" anchor="ctr"/>
          <a:lstStyle/>
          <a:p>
            <a:pPr indent="0" marL="0">
              <a:lnSpc>
                <a:spcPct val="150000"/>
              </a:lnSpc>
              <a:buNone/>
            </a:pPr>
            <a:r>
              <a:rPr lang="en-US" sz="1100" dirty="0">
                <a:solidFill>
                  <a:srgbClr val="FFFFFF"/>
                </a:solidFill>
                <a:latin typeface="Calibri" pitchFamily="34" charset="0"/>
                <a:ea typeface="Calibri" pitchFamily="34" charset="-122"/>
                <a:cs typeface="Calibri" pitchFamily="34" charset="-120"/>
              </a:rPr>
              <a:t>These gaps create security vulnerabilities, administrative burden, and a poor attendee experience — demanding a cloud-native, automated solution.</a:t>
            </a:r>
            <a:endParaRPr lang="en-US" sz="1100" dirty="0"/>
          </a:p>
        </p:txBody>
      </p:sp>
      <p:sp>
        <p:nvSpPr>
          <p:cNvPr id="28" name="Shape 26"/>
          <p:cNvSpPr/>
          <p:nvPr/>
        </p:nvSpPr>
        <p:spPr>
          <a:xfrm>
            <a:off x="4791456" y="2670048"/>
            <a:ext cx="3566160" cy="18288"/>
          </a:xfrm>
          <a:prstGeom prst="rect">
            <a:avLst/>
          </a:prstGeom>
          <a:solidFill>
            <a:srgbClr val="3A5070"/>
          </a:solidFill>
          <a:ln/>
        </p:spPr>
      </p:sp>
      <p:sp>
        <p:nvSpPr>
          <p:cNvPr id="29" name="Text 27"/>
          <p:cNvSpPr/>
          <p:nvPr/>
        </p:nvSpPr>
        <p:spPr>
          <a:xfrm>
            <a:off x="4791456" y="2798064"/>
            <a:ext cx="3749040" cy="237744"/>
          </a:xfrm>
          <a:prstGeom prst="rect">
            <a:avLst/>
          </a:prstGeom>
          <a:noFill/>
          <a:ln/>
        </p:spPr>
        <p:txBody>
          <a:bodyPr wrap="square" rtlCol="0" anchor="ctr"/>
          <a:lstStyle/>
          <a:p>
            <a:pPr indent="0" marL="0">
              <a:buNone/>
            </a:pPr>
            <a:r>
              <a:rPr lang="en-US" sz="800" b="1" spc="150" kern="0" dirty="0">
                <a:solidFill>
                  <a:srgbClr val="8096AE"/>
                </a:solidFill>
                <a:latin typeface="Calibri" pitchFamily="34" charset="0"/>
                <a:ea typeface="Calibri" pitchFamily="34" charset="-122"/>
                <a:cs typeface="Calibri" pitchFamily="34" charset="-120"/>
              </a:rPr>
              <a:t>Key Statistics</a:t>
            </a:r>
            <a:endParaRPr lang="en-US" sz="800" dirty="0"/>
          </a:p>
        </p:txBody>
      </p:sp>
      <p:sp>
        <p:nvSpPr>
          <p:cNvPr id="30" name="Shape 28"/>
          <p:cNvSpPr/>
          <p:nvPr/>
        </p:nvSpPr>
        <p:spPr>
          <a:xfrm>
            <a:off x="4791456" y="3090672"/>
            <a:ext cx="54864" cy="402336"/>
          </a:xfrm>
          <a:prstGeom prst="rect">
            <a:avLst/>
          </a:prstGeom>
          <a:solidFill>
            <a:srgbClr val="2563A8"/>
          </a:solidFill>
          <a:ln/>
        </p:spPr>
      </p:sp>
      <p:sp>
        <p:nvSpPr>
          <p:cNvPr id="31" name="Text 29"/>
          <p:cNvSpPr/>
          <p:nvPr/>
        </p:nvSpPr>
        <p:spPr>
          <a:xfrm>
            <a:off x="4956048" y="3127248"/>
            <a:ext cx="3566160" cy="347472"/>
          </a:xfrm>
          <a:prstGeom prst="rect">
            <a:avLst/>
          </a:prstGeom>
          <a:noFill/>
          <a:ln/>
        </p:spPr>
        <p:txBody>
          <a:bodyPr wrap="square" rtlCol="0" anchor="ctr"/>
          <a:lstStyle/>
          <a:p>
            <a:pPr indent="0" marL="0">
              <a:lnSpc>
                <a:spcPct val="120000"/>
              </a:lnSpc>
              <a:buNone/>
            </a:pPr>
            <a:r>
              <a:rPr lang="en-US" sz="950" dirty="0">
                <a:solidFill>
                  <a:srgbClr val="A8BECF"/>
                </a:solidFill>
                <a:latin typeface="Calibri" pitchFamily="34" charset="0"/>
                <a:ea typeface="Calibri" pitchFamily="34" charset="-122"/>
                <a:cs typeface="Calibri" pitchFamily="34" charset="-120"/>
              </a:rPr>
              <a:t>Current systems rely on paper forms or unvalidated online submissions with no audit trail.</a:t>
            </a:r>
            <a:endParaRPr lang="en-US" sz="950" dirty="0"/>
          </a:p>
        </p:txBody>
      </p:sp>
      <p:sp>
        <p:nvSpPr>
          <p:cNvPr id="32" name="Shape 30"/>
          <p:cNvSpPr/>
          <p:nvPr/>
        </p:nvSpPr>
        <p:spPr>
          <a:xfrm>
            <a:off x="4791456" y="3639312"/>
            <a:ext cx="54864" cy="402336"/>
          </a:xfrm>
          <a:prstGeom prst="rect">
            <a:avLst/>
          </a:prstGeom>
          <a:solidFill>
            <a:srgbClr val="2563A8"/>
          </a:solidFill>
          <a:ln/>
        </p:spPr>
      </p:sp>
      <p:sp>
        <p:nvSpPr>
          <p:cNvPr id="33" name="Text 31"/>
          <p:cNvSpPr/>
          <p:nvPr/>
        </p:nvSpPr>
        <p:spPr>
          <a:xfrm>
            <a:off x="4956048" y="3675888"/>
            <a:ext cx="3566160" cy="347472"/>
          </a:xfrm>
          <a:prstGeom prst="rect">
            <a:avLst/>
          </a:prstGeom>
          <a:noFill/>
          <a:ln/>
        </p:spPr>
        <p:txBody>
          <a:bodyPr wrap="square" rtlCol="0" anchor="ctr"/>
          <a:lstStyle/>
          <a:p>
            <a:pPr indent="0" marL="0">
              <a:lnSpc>
                <a:spcPct val="120000"/>
              </a:lnSpc>
              <a:buNone/>
            </a:pPr>
            <a:r>
              <a:rPr lang="en-US" sz="950" dirty="0">
                <a:solidFill>
                  <a:srgbClr val="A8BECF"/>
                </a:solidFill>
                <a:latin typeface="Calibri" pitchFamily="34" charset="0"/>
                <a:ea typeface="Calibri" pitchFamily="34" charset="-122"/>
                <a:cs typeface="Calibri" pitchFamily="34" charset="-120"/>
              </a:rPr>
              <a:t>Ticket fraud and unauthorised entry are difficult to prevent without a digital validation layer.</a:t>
            </a:r>
            <a:endParaRPr lang="en-US" sz="950" dirty="0"/>
          </a:p>
        </p:txBody>
      </p:sp>
      <p:sp>
        <p:nvSpPr>
          <p:cNvPr id="34" name="Shape 32"/>
          <p:cNvSpPr/>
          <p:nvPr/>
        </p:nvSpPr>
        <p:spPr>
          <a:xfrm>
            <a:off x="4791456" y="4187952"/>
            <a:ext cx="54864" cy="402336"/>
          </a:xfrm>
          <a:prstGeom prst="rect">
            <a:avLst/>
          </a:prstGeom>
          <a:solidFill>
            <a:srgbClr val="2563A8"/>
          </a:solidFill>
          <a:ln/>
        </p:spPr>
      </p:sp>
      <p:sp>
        <p:nvSpPr>
          <p:cNvPr id="35" name="Text 33"/>
          <p:cNvSpPr/>
          <p:nvPr/>
        </p:nvSpPr>
        <p:spPr>
          <a:xfrm>
            <a:off x="4956048" y="4224528"/>
            <a:ext cx="3566160" cy="347472"/>
          </a:xfrm>
          <a:prstGeom prst="rect">
            <a:avLst/>
          </a:prstGeom>
          <a:noFill/>
          <a:ln/>
        </p:spPr>
        <p:txBody>
          <a:bodyPr wrap="square" rtlCol="0" anchor="ctr"/>
          <a:lstStyle/>
          <a:p>
            <a:pPr indent="0" marL="0">
              <a:lnSpc>
                <a:spcPct val="120000"/>
              </a:lnSpc>
              <a:buNone/>
            </a:pPr>
            <a:r>
              <a:rPr lang="en-US" sz="950" dirty="0">
                <a:solidFill>
                  <a:srgbClr val="A8BECF"/>
                </a:solidFill>
                <a:latin typeface="Calibri" pitchFamily="34" charset="0"/>
                <a:ea typeface="Calibri" pitchFamily="34" charset="-122"/>
                <a:cs typeface="Calibri" pitchFamily="34" charset="-120"/>
              </a:rPr>
              <a:t>Attendance data is unavailable in real time, limiting operational oversight during events.</a:t>
            </a:r>
            <a:endParaRPr lang="en-US" sz="950" dirty="0"/>
          </a:p>
        </p:txBody>
      </p:sp>
      <p:sp>
        <p:nvSpPr>
          <p:cNvPr id="36" name="Text 34"/>
          <p:cNvSpPr/>
          <p:nvPr/>
        </p:nvSpPr>
        <p:spPr>
          <a:xfrm>
            <a:off x="8732520" y="4846320"/>
            <a:ext cx="320040" cy="201168"/>
          </a:xfrm>
          <a:prstGeom prst="rect">
            <a:avLst/>
          </a:prstGeom>
          <a:noFill/>
          <a:ln/>
        </p:spPr>
        <p:txBody>
          <a:bodyPr wrap="square" rtlCol="0" anchor="ctr"/>
          <a:lstStyle/>
          <a:p>
            <a:pPr algn="r" indent="0" marL="0">
              <a:buNone/>
            </a:pPr>
            <a:r>
              <a:rPr lang="en-US" sz="800" dirty="0">
                <a:solidFill>
                  <a:srgbClr val="8096AE"/>
                </a:solidFill>
                <a:latin typeface="Calibri" pitchFamily="34" charset="0"/>
                <a:ea typeface="Calibri" pitchFamily="34" charset="-122"/>
                <a:cs typeface="Calibri"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563A8"/>
          </a:solidFill>
          <a:ln/>
        </p:spPr>
      </p:sp>
      <p:sp>
        <p:nvSpPr>
          <p:cNvPr id="3" name="Text 1"/>
          <p:cNvSpPr/>
          <p:nvPr/>
        </p:nvSpPr>
        <p:spPr>
          <a:xfrm>
            <a:off x="411480" y="274320"/>
            <a:ext cx="8229600" cy="237744"/>
          </a:xfrm>
          <a:prstGeom prst="rect">
            <a:avLst/>
          </a:prstGeom>
          <a:noFill/>
          <a:ln/>
        </p:spPr>
        <p:txBody>
          <a:bodyPr wrap="square" rtlCol="0" anchor="ctr"/>
          <a:lstStyle/>
          <a:p>
            <a:pPr indent="0" marL="0">
              <a:buNone/>
            </a:pPr>
            <a:r>
              <a:rPr lang="en-US" sz="800" b="1" spc="200" kern="0" dirty="0">
                <a:solidFill>
                  <a:srgbClr val="8096AE"/>
                </a:solidFill>
                <a:latin typeface="Calibri" pitchFamily="34" charset="0"/>
                <a:ea typeface="Calibri" pitchFamily="34" charset="-122"/>
                <a:cs typeface="Calibri" pitchFamily="34" charset="-120"/>
              </a:rPr>
              <a:t>AIM OF THE PROJECT</a:t>
            </a:r>
            <a:endParaRPr lang="en-US" sz="800" dirty="0"/>
          </a:p>
        </p:txBody>
      </p:sp>
      <p:sp>
        <p:nvSpPr>
          <p:cNvPr id="4" name="Text 2"/>
          <p:cNvSpPr/>
          <p:nvPr/>
        </p:nvSpPr>
        <p:spPr>
          <a:xfrm>
            <a:off x="411480" y="530352"/>
            <a:ext cx="8229600" cy="47548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System Will Achieve</a:t>
            </a:r>
            <a:endParaRPr lang="en-US" sz="2600" dirty="0"/>
          </a:p>
        </p:txBody>
      </p:sp>
      <p:sp>
        <p:nvSpPr>
          <p:cNvPr id="5" name="Shape 3"/>
          <p:cNvSpPr/>
          <p:nvPr/>
        </p:nvSpPr>
        <p:spPr>
          <a:xfrm>
            <a:off x="411480" y="1133856"/>
            <a:ext cx="8321040" cy="841248"/>
          </a:xfrm>
          <a:prstGeom prst="rect">
            <a:avLst/>
          </a:prstGeom>
          <a:solidFill>
            <a:srgbClr val="2563A8"/>
          </a:solidFill>
          <a:ln/>
        </p:spPr>
      </p:sp>
      <p:sp>
        <p:nvSpPr>
          <p:cNvPr id="6" name="Text 4"/>
          <p:cNvSpPr/>
          <p:nvPr/>
        </p:nvSpPr>
        <p:spPr>
          <a:xfrm>
            <a:off x="640080" y="1188720"/>
            <a:ext cx="7909560" cy="731520"/>
          </a:xfrm>
          <a:prstGeom prst="rect">
            <a:avLst/>
          </a:prstGeom>
          <a:noFill/>
          <a:ln/>
        </p:spPr>
        <p:txBody>
          <a:bodyPr wrap="square" rtlCol="0" anchor="ctr"/>
          <a:lstStyle/>
          <a:p>
            <a:pPr indent="0" marL="0">
              <a:lnSpc>
                <a:spcPct val="140000"/>
              </a:lnSpc>
              <a:buNone/>
            </a:pPr>
            <a:r>
              <a:rPr lang="en-US" sz="1150" dirty="0">
                <a:solidFill>
                  <a:srgbClr val="FFFFFF"/>
                </a:solidFill>
                <a:latin typeface="Calibri" pitchFamily="34" charset="0"/>
                <a:ea typeface="Calibri" pitchFamily="34" charset="-122"/>
                <a:cs typeface="Calibri" pitchFamily="34" charset="-120"/>
              </a:rPr>
              <a:t>Design and deploy a secure, scalable cloud-based event management system that automates the full lifecycle — from online registration to real-time QR ticket validation — on AWS.</a:t>
            </a:r>
            <a:endParaRPr lang="en-US" sz="1150" dirty="0"/>
          </a:p>
        </p:txBody>
      </p:sp>
      <p:sp>
        <p:nvSpPr>
          <p:cNvPr id="7" name="Shape 5"/>
          <p:cNvSpPr/>
          <p:nvPr/>
        </p:nvSpPr>
        <p:spPr>
          <a:xfrm>
            <a:off x="411480" y="2139696"/>
            <a:ext cx="1993392" cy="2697480"/>
          </a:xfrm>
          <a:prstGeom prst="rect">
            <a:avLst/>
          </a:prstGeom>
          <a:solidFill>
            <a:srgbClr val="243D5C"/>
          </a:solidFill>
          <a:ln w="9525">
            <a:solidFill>
              <a:srgbClr val="2E4A66"/>
            </a:solidFill>
            <a:prstDash val="solid"/>
          </a:ln>
        </p:spPr>
      </p:sp>
      <p:sp>
        <p:nvSpPr>
          <p:cNvPr id="8" name="Shape 6"/>
          <p:cNvSpPr/>
          <p:nvPr/>
        </p:nvSpPr>
        <p:spPr>
          <a:xfrm>
            <a:off x="411480" y="2139696"/>
            <a:ext cx="1993392" cy="45720"/>
          </a:xfrm>
          <a:prstGeom prst="rect">
            <a:avLst/>
          </a:prstGeom>
          <a:solidFill>
            <a:srgbClr val="2563A8"/>
          </a:solidFill>
          <a:ln/>
        </p:spPr>
      </p:sp>
      <p:sp>
        <p:nvSpPr>
          <p:cNvPr id="9" name="Text 7"/>
          <p:cNvSpPr/>
          <p:nvPr/>
        </p:nvSpPr>
        <p:spPr>
          <a:xfrm>
            <a:off x="557784" y="2249424"/>
            <a:ext cx="512064" cy="475488"/>
          </a:xfrm>
          <a:prstGeom prst="rect">
            <a:avLst/>
          </a:prstGeom>
          <a:noFill/>
          <a:ln/>
        </p:spPr>
        <p:txBody>
          <a:bodyPr wrap="square" rtlCol="0" anchor="ctr"/>
          <a:lstStyle/>
          <a:p>
            <a:pPr indent="0" marL="0">
              <a:buNone/>
            </a:pPr>
            <a:r>
              <a:rPr lang="en-US" sz="2400" b="1" dirty="0">
                <a:solidFill>
                  <a:srgbClr val="2563A8"/>
                </a:solidFill>
                <a:latin typeface="Calibri" pitchFamily="34" charset="0"/>
                <a:ea typeface="Calibri" pitchFamily="34" charset="-122"/>
                <a:cs typeface="Calibri" pitchFamily="34" charset="-120"/>
              </a:rPr>
              <a:t>01</a:t>
            </a:r>
            <a:endParaRPr lang="en-US" sz="2400" dirty="0"/>
          </a:p>
        </p:txBody>
      </p:sp>
      <p:sp>
        <p:nvSpPr>
          <p:cNvPr id="10" name="Text 8"/>
          <p:cNvSpPr/>
          <p:nvPr/>
        </p:nvSpPr>
        <p:spPr>
          <a:xfrm>
            <a:off x="557784" y="2779776"/>
            <a:ext cx="1737360" cy="475488"/>
          </a:xfrm>
          <a:prstGeom prst="rect">
            <a:avLst/>
          </a:prstGeom>
          <a:noFill/>
          <a:ln/>
        </p:spPr>
        <p:txBody>
          <a:bodyPr wrap="square" rtlCol="0" anchor="ctr"/>
          <a:lstStyle/>
          <a:p>
            <a:pPr indent="0" marL="0">
              <a:lnSpc>
                <a:spcPct val="120000"/>
              </a:lnSpc>
              <a:buNone/>
            </a:pPr>
            <a:r>
              <a:rPr lang="en-US" sz="1150" b="1" dirty="0">
                <a:solidFill>
                  <a:srgbClr val="FFFFFF"/>
                </a:solidFill>
                <a:latin typeface="Calibri" pitchFamily="34" charset="0"/>
                <a:ea typeface="Calibri" pitchFamily="34" charset="-122"/>
                <a:cs typeface="Calibri" pitchFamily="34" charset="-120"/>
              </a:rPr>
              <a:t>Online Event Registration</a:t>
            </a:r>
            <a:endParaRPr lang="en-US" sz="1150" dirty="0"/>
          </a:p>
        </p:txBody>
      </p:sp>
      <p:sp>
        <p:nvSpPr>
          <p:cNvPr id="11" name="Text 9"/>
          <p:cNvSpPr/>
          <p:nvPr/>
        </p:nvSpPr>
        <p:spPr>
          <a:xfrm>
            <a:off x="557784" y="3310128"/>
            <a:ext cx="1737360" cy="1389888"/>
          </a:xfrm>
          <a:prstGeom prst="rect">
            <a:avLst/>
          </a:prstGeom>
          <a:noFill/>
          <a:ln/>
        </p:spPr>
        <p:txBody>
          <a:bodyPr wrap="square" rtlCol="0" anchor="ctr"/>
          <a:lstStyle/>
          <a:p>
            <a:pPr indent="0" marL="0">
              <a:lnSpc>
                <a:spcPct val="135000"/>
              </a:lnSpc>
              <a:buNone/>
            </a:pPr>
            <a:r>
              <a:rPr lang="en-US" sz="950" dirty="0">
                <a:solidFill>
                  <a:srgbClr val="A8BECF"/>
                </a:solidFill>
                <a:latin typeface="Calibri" pitchFamily="34" charset="0"/>
                <a:ea typeface="Calibri" pitchFamily="34" charset="-122"/>
                <a:cs typeface="Calibri" pitchFamily="34" charset="-120"/>
              </a:rPr>
              <a:t>A secure web portal enabling attendees to register for events with real-time form validation and email confirmation.</a:t>
            </a:r>
            <a:endParaRPr lang="en-US" sz="950" dirty="0"/>
          </a:p>
        </p:txBody>
      </p:sp>
      <p:sp>
        <p:nvSpPr>
          <p:cNvPr id="12" name="Shape 10"/>
          <p:cNvSpPr/>
          <p:nvPr/>
        </p:nvSpPr>
        <p:spPr>
          <a:xfrm>
            <a:off x="2532888" y="2139696"/>
            <a:ext cx="1993392" cy="2697480"/>
          </a:xfrm>
          <a:prstGeom prst="rect">
            <a:avLst/>
          </a:prstGeom>
          <a:solidFill>
            <a:srgbClr val="243D5C"/>
          </a:solidFill>
          <a:ln w="9525">
            <a:solidFill>
              <a:srgbClr val="2E4A66"/>
            </a:solidFill>
            <a:prstDash val="solid"/>
          </a:ln>
        </p:spPr>
      </p:sp>
      <p:sp>
        <p:nvSpPr>
          <p:cNvPr id="13" name="Shape 11"/>
          <p:cNvSpPr/>
          <p:nvPr/>
        </p:nvSpPr>
        <p:spPr>
          <a:xfrm>
            <a:off x="2532888" y="2139696"/>
            <a:ext cx="1993392" cy="45720"/>
          </a:xfrm>
          <a:prstGeom prst="rect">
            <a:avLst/>
          </a:prstGeom>
          <a:solidFill>
            <a:srgbClr val="2563A8"/>
          </a:solidFill>
          <a:ln/>
        </p:spPr>
      </p:sp>
      <p:sp>
        <p:nvSpPr>
          <p:cNvPr id="14" name="Text 12"/>
          <p:cNvSpPr/>
          <p:nvPr/>
        </p:nvSpPr>
        <p:spPr>
          <a:xfrm>
            <a:off x="2679192" y="2249424"/>
            <a:ext cx="512064" cy="475488"/>
          </a:xfrm>
          <a:prstGeom prst="rect">
            <a:avLst/>
          </a:prstGeom>
          <a:noFill/>
          <a:ln/>
        </p:spPr>
        <p:txBody>
          <a:bodyPr wrap="square" rtlCol="0" anchor="ctr"/>
          <a:lstStyle/>
          <a:p>
            <a:pPr indent="0" marL="0">
              <a:buNone/>
            </a:pPr>
            <a:r>
              <a:rPr lang="en-US" sz="2400" b="1" dirty="0">
                <a:solidFill>
                  <a:srgbClr val="2563A8"/>
                </a:solidFill>
                <a:latin typeface="Calibri" pitchFamily="34" charset="0"/>
                <a:ea typeface="Calibri" pitchFamily="34" charset="-122"/>
                <a:cs typeface="Calibri" pitchFamily="34" charset="-120"/>
              </a:rPr>
              <a:t>02</a:t>
            </a:r>
            <a:endParaRPr lang="en-US" sz="2400" dirty="0"/>
          </a:p>
        </p:txBody>
      </p:sp>
      <p:sp>
        <p:nvSpPr>
          <p:cNvPr id="15" name="Text 13"/>
          <p:cNvSpPr/>
          <p:nvPr/>
        </p:nvSpPr>
        <p:spPr>
          <a:xfrm>
            <a:off x="2679192" y="2779776"/>
            <a:ext cx="1737360" cy="475488"/>
          </a:xfrm>
          <a:prstGeom prst="rect">
            <a:avLst/>
          </a:prstGeom>
          <a:noFill/>
          <a:ln/>
        </p:spPr>
        <p:txBody>
          <a:bodyPr wrap="square" rtlCol="0" anchor="ctr"/>
          <a:lstStyle/>
          <a:p>
            <a:pPr indent="0" marL="0">
              <a:lnSpc>
                <a:spcPct val="120000"/>
              </a:lnSpc>
              <a:buNone/>
            </a:pPr>
            <a:r>
              <a:rPr lang="en-US" sz="1150" b="1" dirty="0">
                <a:solidFill>
                  <a:srgbClr val="FFFFFF"/>
                </a:solidFill>
                <a:latin typeface="Calibri" pitchFamily="34" charset="0"/>
                <a:ea typeface="Calibri" pitchFamily="34" charset="-122"/>
                <a:cs typeface="Calibri" pitchFamily="34" charset="-120"/>
              </a:rPr>
              <a:t>Unique QR Code Tickets</a:t>
            </a:r>
            <a:endParaRPr lang="en-US" sz="1150" dirty="0"/>
          </a:p>
        </p:txBody>
      </p:sp>
      <p:sp>
        <p:nvSpPr>
          <p:cNvPr id="16" name="Text 14"/>
          <p:cNvSpPr/>
          <p:nvPr/>
        </p:nvSpPr>
        <p:spPr>
          <a:xfrm>
            <a:off x="2679192" y="3310128"/>
            <a:ext cx="1737360" cy="1389888"/>
          </a:xfrm>
          <a:prstGeom prst="rect">
            <a:avLst/>
          </a:prstGeom>
          <a:noFill/>
          <a:ln/>
        </p:spPr>
        <p:txBody>
          <a:bodyPr wrap="square" rtlCol="0" anchor="ctr"/>
          <a:lstStyle/>
          <a:p>
            <a:pPr indent="0" marL="0">
              <a:lnSpc>
                <a:spcPct val="135000"/>
              </a:lnSpc>
              <a:buNone/>
            </a:pPr>
            <a:r>
              <a:rPr lang="en-US" sz="950" dirty="0">
                <a:solidFill>
                  <a:srgbClr val="A8BECF"/>
                </a:solidFill>
                <a:latin typeface="Calibri" pitchFamily="34" charset="0"/>
                <a:ea typeface="Calibri" pitchFamily="34" charset="-122"/>
                <a:cs typeface="Calibri" pitchFamily="34" charset="-120"/>
              </a:rPr>
              <a:t>Cryptographically unique QR codes generated per registration and delivered automatically to each attendee.</a:t>
            </a:r>
            <a:endParaRPr lang="en-US" sz="950" dirty="0"/>
          </a:p>
        </p:txBody>
      </p:sp>
      <p:sp>
        <p:nvSpPr>
          <p:cNvPr id="17" name="Shape 15"/>
          <p:cNvSpPr/>
          <p:nvPr/>
        </p:nvSpPr>
        <p:spPr>
          <a:xfrm>
            <a:off x="4654296" y="2139696"/>
            <a:ext cx="1993392" cy="2697480"/>
          </a:xfrm>
          <a:prstGeom prst="rect">
            <a:avLst/>
          </a:prstGeom>
          <a:solidFill>
            <a:srgbClr val="243D5C"/>
          </a:solidFill>
          <a:ln w="9525">
            <a:solidFill>
              <a:srgbClr val="2E4A66"/>
            </a:solidFill>
            <a:prstDash val="solid"/>
          </a:ln>
        </p:spPr>
      </p:sp>
      <p:sp>
        <p:nvSpPr>
          <p:cNvPr id="18" name="Shape 16"/>
          <p:cNvSpPr/>
          <p:nvPr/>
        </p:nvSpPr>
        <p:spPr>
          <a:xfrm>
            <a:off x="4654296" y="2139696"/>
            <a:ext cx="1993392" cy="45720"/>
          </a:xfrm>
          <a:prstGeom prst="rect">
            <a:avLst/>
          </a:prstGeom>
          <a:solidFill>
            <a:srgbClr val="2563A8"/>
          </a:solidFill>
          <a:ln/>
        </p:spPr>
      </p:sp>
      <p:sp>
        <p:nvSpPr>
          <p:cNvPr id="19" name="Text 17"/>
          <p:cNvSpPr/>
          <p:nvPr/>
        </p:nvSpPr>
        <p:spPr>
          <a:xfrm>
            <a:off x="4800600" y="2249424"/>
            <a:ext cx="512064" cy="475488"/>
          </a:xfrm>
          <a:prstGeom prst="rect">
            <a:avLst/>
          </a:prstGeom>
          <a:noFill/>
          <a:ln/>
        </p:spPr>
        <p:txBody>
          <a:bodyPr wrap="square" rtlCol="0" anchor="ctr"/>
          <a:lstStyle/>
          <a:p>
            <a:pPr indent="0" marL="0">
              <a:buNone/>
            </a:pPr>
            <a:r>
              <a:rPr lang="en-US" sz="2400" b="1" dirty="0">
                <a:solidFill>
                  <a:srgbClr val="2563A8"/>
                </a:solidFill>
                <a:latin typeface="Calibri" pitchFamily="34" charset="0"/>
                <a:ea typeface="Calibri" pitchFamily="34" charset="-122"/>
                <a:cs typeface="Calibri" pitchFamily="34" charset="-120"/>
              </a:rPr>
              <a:t>03</a:t>
            </a:r>
            <a:endParaRPr lang="en-US" sz="2400" dirty="0"/>
          </a:p>
        </p:txBody>
      </p:sp>
      <p:sp>
        <p:nvSpPr>
          <p:cNvPr id="20" name="Text 18"/>
          <p:cNvSpPr/>
          <p:nvPr/>
        </p:nvSpPr>
        <p:spPr>
          <a:xfrm>
            <a:off x="4800600" y="2779776"/>
            <a:ext cx="1737360" cy="475488"/>
          </a:xfrm>
          <a:prstGeom prst="rect">
            <a:avLst/>
          </a:prstGeom>
          <a:noFill/>
          <a:ln/>
        </p:spPr>
        <p:txBody>
          <a:bodyPr wrap="square" rtlCol="0" anchor="ctr"/>
          <a:lstStyle/>
          <a:p>
            <a:pPr indent="0" marL="0">
              <a:lnSpc>
                <a:spcPct val="120000"/>
              </a:lnSpc>
              <a:buNone/>
            </a:pPr>
            <a:r>
              <a:rPr lang="en-US" sz="1150" b="1" dirty="0">
                <a:solidFill>
                  <a:srgbClr val="FFFFFF"/>
                </a:solidFill>
                <a:latin typeface="Calibri" pitchFamily="34" charset="0"/>
                <a:ea typeface="Calibri" pitchFamily="34" charset="-122"/>
                <a:cs typeface="Calibri" pitchFamily="34" charset="-120"/>
              </a:rPr>
              <a:t>Real-Time Validation</a:t>
            </a:r>
            <a:endParaRPr lang="en-US" sz="1150" dirty="0"/>
          </a:p>
        </p:txBody>
      </p:sp>
      <p:sp>
        <p:nvSpPr>
          <p:cNvPr id="21" name="Text 19"/>
          <p:cNvSpPr/>
          <p:nvPr/>
        </p:nvSpPr>
        <p:spPr>
          <a:xfrm>
            <a:off x="4800600" y="3310128"/>
            <a:ext cx="1737360" cy="1389888"/>
          </a:xfrm>
          <a:prstGeom prst="rect">
            <a:avLst/>
          </a:prstGeom>
          <a:noFill/>
          <a:ln/>
        </p:spPr>
        <p:txBody>
          <a:bodyPr wrap="square" rtlCol="0" anchor="ctr"/>
          <a:lstStyle/>
          <a:p>
            <a:pPr indent="0" marL="0">
              <a:lnSpc>
                <a:spcPct val="135000"/>
              </a:lnSpc>
              <a:buNone/>
            </a:pPr>
            <a:r>
              <a:rPr lang="en-US" sz="950" dirty="0">
                <a:solidFill>
                  <a:srgbClr val="A8BECF"/>
                </a:solidFill>
                <a:latin typeface="Calibri" pitchFamily="34" charset="0"/>
                <a:ea typeface="Calibri" pitchFamily="34" charset="-122"/>
                <a:cs typeface="Calibri" pitchFamily="34" charset="-120"/>
              </a:rPr>
              <a:t>Instant QR code scanning and authentication at event entry, with live attendance count updates.</a:t>
            </a:r>
            <a:endParaRPr lang="en-US" sz="950" dirty="0"/>
          </a:p>
        </p:txBody>
      </p:sp>
      <p:sp>
        <p:nvSpPr>
          <p:cNvPr id="22" name="Shape 20"/>
          <p:cNvSpPr/>
          <p:nvPr/>
        </p:nvSpPr>
        <p:spPr>
          <a:xfrm>
            <a:off x="6775704" y="2139696"/>
            <a:ext cx="1993392" cy="2697480"/>
          </a:xfrm>
          <a:prstGeom prst="rect">
            <a:avLst/>
          </a:prstGeom>
          <a:solidFill>
            <a:srgbClr val="243D5C"/>
          </a:solidFill>
          <a:ln w="9525">
            <a:solidFill>
              <a:srgbClr val="2E4A66"/>
            </a:solidFill>
            <a:prstDash val="solid"/>
          </a:ln>
        </p:spPr>
      </p:sp>
      <p:sp>
        <p:nvSpPr>
          <p:cNvPr id="23" name="Shape 21"/>
          <p:cNvSpPr/>
          <p:nvPr/>
        </p:nvSpPr>
        <p:spPr>
          <a:xfrm>
            <a:off x="6775704" y="2139696"/>
            <a:ext cx="1993392" cy="45720"/>
          </a:xfrm>
          <a:prstGeom prst="rect">
            <a:avLst/>
          </a:prstGeom>
          <a:solidFill>
            <a:srgbClr val="2563A8"/>
          </a:solidFill>
          <a:ln/>
        </p:spPr>
      </p:sp>
      <p:sp>
        <p:nvSpPr>
          <p:cNvPr id="24" name="Text 22"/>
          <p:cNvSpPr/>
          <p:nvPr/>
        </p:nvSpPr>
        <p:spPr>
          <a:xfrm>
            <a:off x="6922008" y="2249424"/>
            <a:ext cx="512064" cy="475488"/>
          </a:xfrm>
          <a:prstGeom prst="rect">
            <a:avLst/>
          </a:prstGeom>
          <a:noFill/>
          <a:ln/>
        </p:spPr>
        <p:txBody>
          <a:bodyPr wrap="square" rtlCol="0" anchor="ctr"/>
          <a:lstStyle/>
          <a:p>
            <a:pPr indent="0" marL="0">
              <a:buNone/>
            </a:pPr>
            <a:r>
              <a:rPr lang="en-US" sz="2400" b="1" dirty="0">
                <a:solidFill>
                  <a:srgbClr val="2563A8"/>
                </a:solidFill>
                <a:latin typeface="Calibri" pitchFamily="34" charset="0"/>
                <a:ea typeface="Calibri" pitchFamily="34" charset="-122"/>
                <a:cs typeface="Calibri" pitchFamily="34" charset="-120"/>
              </a:rPr>
              <a:t>04</a:t>
            </a:r>
            <a:endParaRPr lang="en-US" sz="2400" dirty="0"/>
          </a:p>
        </p:txBody>
      </p:sp>
      <p:sp>
        <p:nvSpPr>
          <p:cNvPr id="25" name="Text 23"/>
          <p:cNvSpPr/>
          <p:nvPr/>
        </p:nvSpPr>
        <p:spPr>
          <a:xfrm>
            <a:off x="6922008" y="2779776"/>
            <a:ext cx="1737360" cy="475488"/>
          </a:xfrm>
          <a:prstGeom prst="rect">
            <a:avLst/>
          </a:prstGeom>
          <a:noFill/>
          <a:ln/>
        </p:spPr>
        <p:txBody>
          <a:bodyPr wrap="square" rtlCol="0" anchor="ctr"/>
          <a:lstStyle/>
          <a:p>
            <a:pPr indent="0" marL="0">
              <a:lnSpc>
                <a:spcPct val="120000"/>
              </a:lnSpc>
              <a:buNone/>
            </a:pPr>
            <a:r>
              <a:rPr lang="en-US" sz="1150" b="1" dirty="0">
                <a:solidFill>
                  <a:srgbClr val="FFFFFF"/>
                </a:solidFill>
                <a:latin typeface="Calibri" pitchFamily="34" charset="0"/>
                <a:ea typeface="Calibri" pitchFamily="34" charset="-122"/>
                <a:cs typeface="Calibri" pitchFamily="34" charset="-120"/>
              </a:rPr>
              <a:t>Secure Cloud Data Storage</a:t>
            </a:r>
            <a:endParaRPr lang="en-US" sz="1150" dirty="0"/>
          </a:p>
        </p:txBody>
      </p:sp>
      <p:sp>
        <p:nvSpPr>
          <p:cNvPr id="26" name="Text 24"/>
          <p:cNvSpPr/>
          <p:nvPr/>
        </p:nvSpPr>
        <p:spPr>
          <a:xfrm>
            <a:off x="6922008" y="3310128"/>
            <a:ext cx="1737360" cy="1389888"/>
          </a:xfrm>
          <a:prstGeom prst="rect">
            <a:avLst/>
          </a:prstGeom>
          <a:noFill/>
          <a:ln/>
        </p:spPr>
        <p:txBody>
          <a:bodyPr wrap="square" rtlCol="0" anchor="ctr"/>
          <a:lstStyle/>
          <a:p>
            <a:pPr indent="0" marL="0">
              <a:lnSpc>
                <a:spcPct val="135000"/>
              </a:lnSpc>
              <a:buNone/>
            </a:pPr>
            <a:r>
              <a:rPr lang="en-US" sz="950" dirty="0">
                <a:solidFill>
                  <a:srgbClr val="A8BECF"/>
                </a:solidFill>
                <a:latin typeface="Calibri" pitchFamily="34" charset="0"/>
                <a:ea typeface="Calibri" pitchFamily="34" charset="-122"/>
                <a:cs typeface="Calibri" pitchFamily="34" charset="-120"/>
              </a:rPr>
              <a:t>All registration and attendance data persisted securely in DynamoDB with encryption at rest and in transit.</a:t>
            </a:r>
            <a:endParaRPr lang="en-US" sz="950" dirty="0"/>
          </a:p>
        </p:txBody>
      </p:sp>
      <p:sp>
        <p:nvSpPr>
          <p:cNvPr id="27" name="Text 25"/>
          <p:cNvSpPr/>
          <p:nvPr/>
        </p:nvSpPr>
        <p:spPr>
          <a:xfrm>
            <a:off x="8732520" y="4846320"/>
            <a:ext cx="320040" cy="201168"/>
          </a:xfrm>
          <a:prstGeom prst="rect">
            <a:avLst/>
          </a:prstGeom>
          <a:noFill/>
          <a:ln/>
        </p:spPr>
        <p:txBody>
          <a:bodyPr wrap="square" rtlCol="0" anchor="ctr"/>
          <a:lstStyle/>
          <a:p>
            <a:pPr algn="r" indent="0" marL="0">
              <a:buNone/>
            </a:pPr>
            <a:r>
              <a:rPr lang="en-US" sz="800" dirty="0">
                <a:solidFill>
                  <a:srgbClr val="8096AE"/>
                </a:solidFill>
                <a:latin typeface="Calibri" pitchFamily="34" charset="0"/>
                <a:ea typeface="Calibri" pitchFamily="34" charset="-122"/>
                <a:cs typeface="Calibri"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p:spPr>
      </p:sp>
      <p:sp>
        <p:nvSpPr>
          <p:cNvPr id="3" name="Shape 1"/>
          <p:cNvSpPr/>
          <p:nvPr/>
        </p:nvSpPr>
        <p:spPr>
          <a:xfrm>
            <a:off x="0" y="0"/>
            <a:ext cx="164592" cy="1005840"/>
          </a:xfrm>
          <a:prstGeom prst="rect">
            <a:avLst/>
          </a:prstGeom>
          <a:solidFill>
            <a:srgbClr val="2563A8"/>
          </a:solidFill>
          <a:ln/>
        </p:spPr>
      </p:sp>
      <p:sp>
        <p:nvSpPr>
          <p:cNvPr id="4" name="Text 2"/>
          <p:cNvSpPr/>
          <p:nvPr/>
        </p:nvSpPr>
        <p:spPr>
          <a:xfrm>
            <a:off x="411480" y="164592"/>
            <a:ext cx="8229600" cy="228600"/>
          </a:xfrm>
          <a:prstGeom prst="rect">
            <a:avLst/>
          </a:prstGeom>
          <a:noFill/>
          <a:ln/>
        </p:spPr>
        <p:txBody>
          <a:bodyPr wrap="square" rtlCol="0" anchor="ctr"/>
          <a:lstStyle/>
          <a:p>
            <a:pPr indent="0" marL="0">
              <a:buNone/>
            </a:pPr>
            <a:r>
              <a:rPr lang="en-US" sz="800" b="1" spc="150" kern="0" dirty="0">
                <a:solidFill>
                  <a:srgbClr val="8096AE"/>
                </a:solidFill>
                <a:latin typeface="Calibri" pitchFamily="34" charset="0"/>
                <a:ea typeface="Calibri" pitchFamily="34" charset="-122"/>
                <a:cs typeface="Calibri" pitchFamily="34" charset="-120"/>
              </a:rPr>
              <a:t>PROJECT OBJECTIVES</a:t>
            </a:r>
            <a:endParaRPr lang="en-US" sz="800" dirty="0"/>
          </a:p>
        </p:txBody>
      </p:sp>
      <p:sp>
        <p:nvSpPr>
          <p:cNvPr id="5" name="Text 3"/>
          <p:cNvSpPr/>
          <p:nvPr/>
        </p:nvSpPr>
        <p:spPr>
          <a:xfrm>
            <a:off x="411480" y="402336"/>
            <a:ext cx="8229600" cy="42062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Technical Deliverables</a:t>
            </a:r>
            <a:endParaRPr lang="en-US" sz="2200" dirty="0"/>
          </a:p>
        </p:txBody>
      </p:sp>
      <p:sp>
        <p:nvSpPr>
          <p:cNvPr id="6" name="Shape 4"/>
          <p:cNvSpPr/>
          <p:nvPr/>
        </p:nvSpPr>
        <p:spPr>
          <a:xfrm>
            <a:off x="384048" y="1152144"/>
            <a:ext cx="4206240" cy="1133856"/>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384048" y="1152144"/>
            <a:ext cx="438912" cy="1133856"/>
          </a:xfrm>
          <a:prstGeom prst="rect">
            <a:avLst/>
          </a:prstGeom>
          <a:solidFill>
            <a:srgbClr val="EBF1F9"/>
          </a:solidFill>
          <a:ln/>
        </p:spPr>
      </p:sp>
      <p:sp>
        <p:nvSpPr>
          <p:cNvPr id="8" name="Text 6"/>
          <p:cNvSpPr/>
          <p:nvPr/>
        </p:nvSpPr>
        <p:spPr>
          <a:xfrm>
            <a:off x="384048" y="1152144"/>
            <a:ext cx="438912" cy="1133856"/>
          </a:xfrm>
          <a:prstGeom prst="rect">
            <a:avLst/>
          </a:prstGeom>
          <a:noFill/>
          <a:ln/>
        </p:spPr>
        <p:txBody>
          <a:bodyPr wrap="square" lIns="0" tIns="0" rIns="0" bIns="0" rtlCol="0" anchor="ctr"/>
          <a:lstStyle/>
          <a:p>
            <a:pPr algn="ctr" indent="0" marL="0">
              <a:buNone/>
            </a:pPr>
            <a:r>
              <a:rPr lang="en-US" sz="1300" b="1" dirty="0">
                <a:solidFill>
                  <a:srgbClr val="2563A8"/>
                </a:solidFill>
                <a:latin typeface="Calibri" pitchFamily="34" charset="0"/>
                <a:ea typeface="Calibri" pitchFamily="34" charset="-122"/>
                <a:cs typeface="Calibri" pitchFamily="34" charset="-120"/>
              </a:rPr>
              <a:t>O1</a:t>
            </a:r>
            <a:endParaRPr lang="en-US" sz="1300" dirty="0"/>
          </a:p>
        </p:txBody>
      </p:sp>
      <p:sp>
        <p:nvSpPr>
          <p:cNvPr id="9" name="Text 7"/>
          <p:cNvSpPr/>
          <p:nvPr/>
        </p:nvSpPr>
        <p:spPr>
          <a:xfrm>
            <a:off x="932688" y="1261872"/>
            <a:ext cx="3520440" cy="201168"/>
          </a:xfrm>
          <a:prstGeom prst="rect">
            <a:avLst/>
          </a:prstGeom>
          <a:noFill/>
          <a:ln/>
        </p:spPr>
        <p:txBody>
          <a:bodyPr wrap="square" rtlCol="0" anchor="ctr"/>
          <a:lstStyle/>
          <a:p>
            <a:pPr indent="0" marL="0">
              <a:buNone/>
            </a:pPr>
            <a:r>
              <a:rPr lang="en-US" sz="750" b="1" spc="80" kern="0" dirty="0">
                <a:solidFill>
                  <a:srgbClr val="8096AE"/>
                </a:solidFill>
                <a:latin typeface="Calibri" pitchFamily="34" charset="0"/>
                <a:ea typeface="Calibri" pitchFamily="34" charset="-122"/>
                <a:cs typeface="Calibri" pitchFamily="34" charset="-120"/>
              </a:rPr>
              <a:t>BACKEND</a:t>
            </a:r>
            <a:endParaRPr lang="en-US" sz="750" dirty="0"/>
          </a:p>
        </p:txBody>
      </p:sp>
      <p:sp>
        <p:nvSpPr>
          <p:cNvPr id="10" name="Text 8"/>
          <p:cNvSpPr/>
          <p:nvPr/>
        </p:nvSpPr>
        <p:spPr>
          <a:xfrm>
            <a:off x="932688" y="1499616"/>
            <a:ext cx="3520440" cy="694944"/>
          </a:xfrm>
          <a:prstGeom prst="rect">
            <a:avLst/>
          </a:prstGeom>
          <a:noFill/>
          <a:ln/>
        </p:spPr>
        <p:txBody>
          <a:bodyPr wrap="square" rtlCol="0" anchor="ctr"/>
          <a:lstStyle/>
          <a:p>
            <a:pPr indent="0" marL="0">
              <a:lnSpc>
                <a:spcPct val="135000"/>
              </a:lnSpc>
              <a:buNone/>
            </a:pPr>
            <a:r>
              <a:rPr lang="en-US" sz="1050" dirty="0">
                <a:solidFill>
                  <a:srgbClr val="1A2E4A"/>
                </a:solidFill>
                <a:latin typeface="Calibri" pitchFamily="34" charset="0"/>
                <a:ea typeface="Calibri" pitchFamily="34" charset="-122"/>
                <a:cs typeface="Calibri" pitchFamily="34" charset="-120"/>
              </a:rPr>
              <a:t>Implement complete CRUD operations for events and registrations with secure, validated API endpoints.</a:t>
            </a:r>
            <a:endParaRPr lang="en-US" sz="1050" dirty="0"/>
          </a:p>
        </p:txBody>
      </p:sp>
      <p:sp>
        <p:nvSpPr>
          <p:cNvPr id="11" name="Shape 9"/>
          <p:cNvSpPr/>
          <p:nvPr/>
        </p:nvSpPr>
        <p:spPr>
          <a:xfrm>
            <a:off x="4791456" y="1152144"/>
            <a:ext cx="4206240" cy="1133856"/>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12" name="Shape 10"/>
          <p:cNvSpPr/>
          <p:nvPr/>
        </p:nvSpPr>
        <p:spPr>
          <a:xfrm>
            <a:off x="4791456" y="1152144"/>
            <a:ext cx="438912" cy="1133856"/>
          </a:xfrm>
          <a:prstGeom prst="rect">
            <a:avLst/>
          </a:prstGeom>
          <a:solidFill>
            <a:srgbClr val="EBF1F9"/>
          </a:solidFill>
          <a:ln/>
        </p:spPr>
      </p:sp>
      <p:sp>
        <p:nvSpPr>
          <p:cNvPr id="13" name="Text 11"/>
          <p:cNvSpPr/>
          <p:nvPr/>
        </p:nvSpPr>
        <p:spPr>
          <a:xfrm>
            <a:off x="4791456" y="1152144"/>
            <a:ext cx="438912" cy="1133856"/>
          </a:xfrm>
          <a:prstGeom prst="rect">
            <a:avLst/>
          </a:prstGeom>
          <a:noFill/>
          <a:ln/>
        </p:spPr>
        <p:txBody>
          <a:bodyPr wrap="square" lIns="0" tIns="0" rIns="0" bIns="0" rtlCol="0" anchor="ctr"/>
          <a:lstStyle/>
          <a:p>
            <a:pPr algn="ctr" indent="0" marL="0">
              <a:buNone/>
            </a:pPr>
            <a:r>
              <a:rPr lang="en-US" sz="1300" b="1" dirty="0">
                <a:solidFill>
                  <a:srgbClr val="2563A8"/>
                </a:solidFill>
                <a:latin typeface="Calibri" pitchFamily="34" charset="0"/>
                <a:ea typeface="Calibri" pitchFamily="34" charset="-122"/>
                <a:cs typeface="Calibri" pitchFamily="34" charset="-120"/>
              </a:rPr>
              <a:t>O2</a:t>
            </a:r>
            <a:endParaRPr lang="en-US" sz="1300" dirty="0"/>
          </a:p>
        </p:txBody>
      </p:sp>
      <p:sp>
        <p:nvSpPr>
          <p:cNvPr id="14" name="Text 12"/>
          <p:cNvSpPr/>
          <p:nvPr/>
        </p:nvSpPr>
        <p:spPr>
          <a:xfrm>
            <a:off x="5340096" y="1261872"/>
            <a:ext cx="3520440" cy="201168"/>
          </a:xfrm>
          <a:prstGeom prst="rect">
            <a:avLst/>
          </a:prstGeom>
          <a:noFill/>
          <a:ln/>
        </p:spPr>
        <p:txBody>
          <a:bodyPr wrap="square" rtlCol="0" anchor="ctr"/>
          <a:lstStyle/>
          <a:p>
            <a:pPr indent="0" marL="0">
              <a:buNone/>
            </a:pPr>
            <a:r>
              <a:rPr lang="en-US" sz="750" b="1" spc="80" kern="0" dirty="0">
                <a:solidFill>
                  <a:srgbClr val="8096AE"/>
                </a:solidFill>
                <a:latin typeface="Calibri" pitchFamily="34" charset="0"/>
                <a:ea typeface="Calibri" pitchFamily="34" charset="-122"/>
                <a:cs typeface="Calibri" pitchFamily="34" charset="-120"/>
              </a:rPr>
              <a:t>CORE FEATURE</a:t>
            </a:r>
            <a:endParaRPr lang="en-US" sz="750" dirty="0"/>
          </a:p>
        </p:txBody>
      </p:sp>
      <p:sp>
        <p:nvSpPr>
          <p:cNvPr id="15" name="Text 13"/>
          <p:cNvSpPr/>
          <p:nvPr/>
        </p:nvSpPr>
        <p:spPr>
          <a:xfrm>
            <a:off x="5340096" y="1499616"/>
            <a:ext cx="3520440" cy="694944"/>
          </a:xfrm>
          <a:prstGeom prst="rect">
            <a:avLst/>
          </a:prstGeom>
          <a:noFill/>
          <a:ln/>
        </p:spPr>
        <p:txBody>
          <a:bodyPr wrap="square" rtlCol="0" anchor="ctr"/>
          <a:lstStyle/>
          <a:p>
            <a:pPr indent="0" marL="0">
              <a:lnSpc>
                <a:spcPct val="135000"/>
              </a:lnSpc>
              <a:buNone/>
            </a:pPr>
            <a:r>
              <a:rPr lang="en-US" sz="1050" dirty="0">
                <a:solidFill>
                  <a:srgbClr val="1A2E4A"/>
                </a:solidFill>
                <a:latin typeface="Calibri" pitchFamily="34" charset="0"/>
                <a:ea typeface="Calibri" pitchFamily="34" charset="-122"/>
                <a:cs typeface="Calibri" pitchFamily="34" charset="-120"/>
              </a:rPr>
              <a:t>Provide QR-based digital ticket generation and real-time scanning validation at event entry points.</a:t>
            </a:r>
            <a:endParaRPr lang="en-US" sz="1050" dirty="0"/>
          </a:p>
        </p:txBody>
      </p:sp>
      <p:sp>
        <p:nvSpPr>
          <p:cNvPr id="16" name="Shape 14"/>
          <p:cNvSpPr/>
          <p:nvPr/>
        </p:nvSpPr>
        <p:spPr>
          <a:xfrm>
            <a:off x="384048" y="2414016"/>
            <a:ext cx="4206240" cy="1133856"/>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17" name="Shape 15"/>
          <p:cNvSpPr/>
          <p:nvPr/>
        </p:nvSpPr>
        <p:spPr>
          <a:xfrm>
            <a:off x="384048" y="2414016"/>
            <a:ext cx="438912" cy="1133856"/>
          </a:xfrm>
          <a:prstGeom prst="rect">
            <a:avLst/>
          </a:prstGeom>
          <a:solidFill>
            <a:srgbClr val="EBF1F9"/>
          </a:solidFill>
          <a:ln/>
        </p:spPr>
      </p:sp>
      <p:sp>
        <p:nvSpPr>
          <p:cNvPr id="18" name="Text 16"/>
          <p:cNvSpPr/>
          <p:nvPr/>
        </p:nvSpPr>
        <p:spPr>
          <a:xfrm>
            <a:off x="384048" y="2414016"/>
            <a:ext cx="438912" cy="1133856"/>
          </a:xfrm>
          <a:prstGeom prst="rect">
            <a:avLst/>
          </a:prstGeom>
          <a:noFill/>
          <a:ln/>
        </p:spPr>
        <p:txBody>
          <a:bodyPr wrap="square" lIns="0" tIns="0" rIns="0" bIns="0" rtlCol="0" anchor="ctr"/>
          <a:lstStyle/>
          <a:p>
            <a:pPr algn="ctr" indent="0" marL="0">
              <a:buNone/>
            </a:pPr>
            <a:r>
              <a:rPr lang="en-US" sz="1300" b="1" dirty="0">
                <a:solidFill>
                  <a:srgbClr val="2563A8"/>
                </a:solidFill>
                <a:latin typeface="Calibri" pitchFamily="34" charset="0"/>
                <a:ea typeface="Calibri" pitchFamily="34" charset="-122"/>
                <a:cs typeface="Calibri" pitchFamily="34" charset="-120"/>
              </a:rPr>
              <a:t>O3</a:t>
            </a:r>
            <a:endParaRPr lang="en-US" sz="1300" dirty="0"/>
          </a:p>
        </p:txBody>
      </p:sp>
      <p:sp>
        <p:nvSpPr>
          <p:cNvPr id="19" name="Text 17"/>
          <p:cNvSpPr/>
          <p:nvPr/>
        </p:nvSpPr>
        <p:spPr>
          <a:xfrm>
            <a:off x="932688" y="2523744"/>
            <a:ext cx="3520440" cy="201168"/>
          </a:xfrm>
          <a:prstGeom prst="rect">
            <a:avLst/>
          </a:prstGeom>
          <a:noFill/>
          <a:ln/>
        </p:spPr>
        <p:txBody>
          <a:bodyPr wrap="square" rtlCol="0" anchor="ctr"/>
          <a:lstStyle/>
          <a:p>
            <a:pPr indent="0" marL="0">
              <a:buNone/>
            </a:pPr>
            <a:r>
              <a:rPr lang="en-US" sz="750" b="1" spc="80" kern="0" dirty="0">
                <a:solidFill>
                  <a:srgbClr val="8096AE"/>
                </a:solidFill>
                <a:latin typeface="Calibri" pitchFamily="34" charset="0"/>
                <a:ea typeface="Calibri" pitchFamily="34" charset="-122"/>
                <a:cs typeface="Calibri" pitchFamily="34" charset="-120"/>
              </a:rPr>
              <a:t>CLOUD INTEGRATION</a:t>
            </a:r>
            <a:endParaRPr lang="en-US" sz="750" dirty="0"/>
          </a:p>
        </p:txBody>
      </p:sp>
      <p:sp>
        <p:nvSpPr>
          <p:cNvPr id="20" name="Text 18"/>
          <p:cNvSpPr/>
          <p:nvPr/>
        </p:nvSpPr>
        <p:spPr>
          <a:xfrm>
            <a:off x="932688" y="2761488"/>
            <a:ext cx="3520440" cy="694944"/>
          </a:xfrm>
          <a:prstGeom prst="rect">
            <a:avLst/>
          </a:prstGeom>
          <a:noFill/>
          <a:ln/>
        </p:spPr>
        <p:txBody>
          <a:bodyPr wrap="square" rtlCol="0" anchor="ctr"/>
          <a:lstStyle/>
          <a:p>
            <a:pPr indent="0" marL="0">
              <a:lnSpc>
                <a:spcPct val="135000"/>
              </a:lnSpc>
              <a:buNone/>
            </a:pPr>
            <a:r>
              <a:rPr lang="en-US" sz="1050" dirty="0">
                <a:solidFill>
                  <a:srgbClr val="1A2E4A"/>
                </a:solidFill>
                <a:latin typeface="Calibri" pitchFamily="34" charset="0"/>
                <a:ea typeface="Calibri" pitchFamily="34" charset="-122"/>
                <a:cs typeface="Calibri" pitchFamily="34" charset="-120"/>
              </a:rPr>
              <a:t>Programmatically integrate a minimum of eight AWS cloud services across the application stack.</a:t>
            </a:r>
            <a:endParaRPr lang="en-US" sz="1050" dirty="0"/>
          </a:p>
        </p:txBody>
      </p:sp>
      <p:sp>
        <p:nvSpPr>
          <p:cNvPr id="21" name="Shape 19"/>
          <p:cNvSpPr/>
          <p:nvPr/>
        </p:nvSpPr>
        <p:spPr>
          <a:xfrm>
            <a:off x="4791456" y="2414016"/>
            <a:ext cx="4206240" cy="1133856"/>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22" name="Shape 20"/>
          <p:cNvSpPr/>
          <p:nvPr/>
        </p:nvSpPr>
        <p:spPr>
          <a:xfrm>
            <a:off x="4791456" y="2414016"/>
            <a:ext cx="438912" cy="1133856"/>
          </a:xfrm>
          <a:prstGeom prst="rect">
            <a:avLst/>
          </a:prstGeom>
          <a:solidFill>
            <a:srgbClr val="EBF1F9"/>
          </a:solidFill>
          <a:ln/>
        </p:spPr>
      </p:sp>
      <p:sp>
        <p:nvSpPr>
          <p:cNvPr id="23" name="Text 21"/>
          <p:cNvSpPr/>
          <p:nvPr/>
        </p:nvSpPr>
        <p:spPr>
          <a:xfrm>
            <a:off x="4791456" y="2414016"/>
            <a:ext cx="438912" cy="1133856"/>
          </a:xfrm>
          <a:prstGeom prst="rect">
            <a:avLst/>
          </a:prstGeom>
          <a:noFill/>
          <a:ln/>
        </p:spPr>
        <p:txBody>
          <a:bodyPr wrap="square" lIns="0" tIns="0" rIns="0" bIns="0" rtlCol="0" anchor="ctr"/>
          <a:lstStyle/>
          <a:p>
            <a:pPr algn="ctr" indent="0" marL="0">
              <a:buNone/>
            </a:pPr>
            <a:r>
              <a:rPr lang="en-US" sz="1300" b="1" dirty="0">
                <a:solidFill>
                  <a:srgbClr val="2563A8"/>
                </a:solidFill>
                <a:latin typeface="Calibri" pitchFamily="34" charset="0"/>
                <a:ea typeface="Calibri" pitchFamily="34" charset="-122"/>
                <a:cs typeface="Calibri" pitchFamily="34" charset="-120"/>
              </a:rPr>
              <a:t>O4</a:t>
            </a:r>
            <a:endParaRPr lang="en-US" sz="1300" dirty="0"/>
          </a:p>
        </p:txBody>
      </p:sp>
      <p:sp>
        <p:nvSpPr>
          <p:cNvPr id="24" name="Text 22"/>
          <p:cNvSpPr/>
          <p:nvPr/>
        </p:nvSpPr>
        <p:spPr>
          <a:xfrm>
            <a:off x="5340096" y="2523744"/>
            <a:ext cx="3520440" cy="201168"/>
          </a:xfrm>
          <a:prstGeom prst="rect">
            <a:avLst/>
          </a:prstGeom>
          <a:noFill/>
          <a:ln/>
        </p:spPr>
        <p:txBody>
          <a:bodyPr wrap="square" rtlCol="0" anchor="ctr"/>
          <a:lstStyle/>
          <a:p>
            <a:pPr indent="0" marL="0">
              <a:buNone/>
            </a:pPr>
            <a:r>
              <a:rPr lang="en-US" sz="750" b="1" spc="80" kern="0" dirty="0">
                <a:solidFill>
                  <a:srgbClr val="8096AE"/>
                </a:solidFill>
                <a:latin typeface="Calibri" pitchFamily="34" charset="0"/>
                <a:ea typeface="Calibri" pitchFamily="34" charset="-122"/>
                <a:cs typeface="Calibri" pitchFamily="34" charset="-120"/>
              </a:rPr>
              <a:t>ARCHITECTURE</a:t>
            </a:r>
            <a:endParaRPr lang="en-US" sz="750" dirty="0"/>
          </a:p>
        </p:txBody>
      </p:sp>
      <p:sp>
        <p:nvSpPr>
          <p:cNvPr id="25" name="Text 23"/>
          <p:cNvSpPr/>
          <p:nvPr/>
        </p:nvSpPr>
        <p:spPr>
          <a:xfrm>
            <a:off x="5340096" y="2761488"/>
            <a:ext cx="3520440" cy="694944"/>
          </a:xfrm>
          <a:prstGeom prst="rect">
            <a:avLst/>
          </a:prstGeom>
          <a:noFill/>
          <a:ln/>
        </p:spPr>
        <p:txBody>
          <a:bodyPr wrap="square" rtlCol="0" anchor="ctr"/>
          <a:lstStyle/>
          <a:p>
            <a:pPr indent="0" marL="0">
              <a:lnSpc>
                <a:spcPct val="135000"/>
              </a:lnSpc>
              <a:buNone/>
            </a:pPr>
            <a:r>
              <a:rPr lang="en-US" sz="1050" dirty="0">
                <a:solidFill>
                  <a:srgbClr val="1A2E4A"/>
                </a:solidFill>
                <a:latin typeface="Calibri" pitchFamily="34" charset="0"/>
                <a:ea typeface="Calibri" pitchFamily="34" charset="-122"/>
                <a:cs typeface="Calibri" pitchFamily="34" charset="-120"/>
              </a:rPr>
              <a:t>Design a scalable, highly available architecture using load balancing and auto-scaling groups.</a:t>
            </a:r>
            <a:endParaRPr lang="en-US" sz="1050" dirty="0"/>
          </a:p>
        </p:txBody>
      </p:sp>
      <p:sp>
        <p:nvSpPr>
          <p:cNvPr id="26" name="Shape 24"/>
          <p:cNvSpPr/>
          <p:nvPr/>
        </p:nvSpPr>
        <p:spPr>
          <a:xfrm>
            <a:off x="384048" y="3675888"/>
            <a:ext cx="4206240" cy="1133856"/>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27" name="Shape 25"/>
          <p:cNvSpPr/>
          <p:nvPr/>
        </p:nvSpPr>
        <p:spPr>
          <a:xfrm>
            <a:off x="384048" y="3675888"/>
            <a:ext cx="438912" cy="1133856"/>
          </a:xfrm>
          <a:prstGeom prst="rect">
            <a:avLst/>
          </a:prstGeom>
          <a:solidFill>
            <a:srgbClr val="EBF1F9"/>
          </a:solidFill>
          <a:ln/>
        </p:spPr>
      </p:sp>
      <p:sp>
        <p:nvSpPr>
          <p:cNvPr id="28" name="Text 26"/>
          <p:cNvSpPr/>
          <p:nvPr/>
        </p:nvSpPr>
        <p:spPr>
          <a:xfrm>
            <a:off x="384048" y="3675888"/>
            <a:ext cx="438912" cy="1133856"/>
          </a:xfrm>
          <a:prstGeom prst="rect">
            <a:avLst/>
          </a:prstGeom>
          <a:noFill/>
          <a:ln/>
        </p:spPr>
        <p:txBody>
          <a:bodyPr wrap="square" lIns="0" tIns="0" rIns="0" bIns="0" rtlCol="0" anchor="ctr"/>
          <a:lstStyle/>
          <a:p>
            <a:pPr algn="ctr" indent="0" marL="0">
              <a:buNone/>
            </a:pPr>
            <a:r>
              <a:rPr lang="en-US" sz="1300" b="1" dirty="0">
                <a:solidFill>
                  <a:srgbClr val="2563A8"/>
                </a:solidFill>
                <a:latin typeface="Calibri" pitchFamily="34" charset="0"/>
                <a:ea typeface="Calibri" pitchFamily="34" charset="-122"/>
                <a:cs typeface="Calibri" pitchFamily="34" charset="-120"/>
              </a:rPr>
              <a:t>O5</a:t>
            </a:r>
            <a:endParaRPr lang="en-US" sz="1300" dirty="0"/>
          </a:p>
        </p:txBody>
      </p:sp>
      <p:sp>
        <p:nvSpPr>
          <p:cNvPr id="29" name="Text 27"/>
          <p:cNvSpPr/>
          <p:nvPr/>
        </p:nvSpPr>
        <p:spPr>
          <a:xfrm>
            <a:off x="932688" y="3785616"/>
            <a:ext cx="3520440" cy="201168"/>
          </a:xfrm>
          <a:prstGeom prst="rect">
            <a:avLst/>
          </a:prstGeom>
          <a:noFill/>
          <a:ln/>
        </p:spPr>
        <p:txBody>
          <a:bodyPr wrap="square" rtlCol="0" anchor="ctr"/>
          <a:lstStyle/>
          <a:p>
            <a:pPr indent="0" marL="0">
              <a:buNone/>
            </a:pPr>
            <a:r>
              <a:rPr lang="en-US" sz="750" b="1" spc="80" kern="0" dirty="0">
                <a:solidFill>
                  <a:srgbClr val="8096AE"/>
                </a:solidFill>
                <a:latin typeface="Calibri" pitchFamily="34" charset="0"/>
                <a:ea typeface="Calibri" pitchFamily="34" charset="-122"/>
                <a:cs typeface="Calibri" pitchFamily="34" charset="-120"/>
              </a:rPr>
              <a:t>SOFTWARE DESIGN</a:t>
            </a:r>
            <a:endParaRPr lang="en-US" sz="750" dirty="0"/>
          </a:p>
        </p:txBody>
      </p:sp>
      <p:sp>
        <p:nvSpPr>
          <p:cNvPr id="30" name="Text 28"/>
          <p:cNvSpPr/>
          <p:nvPr/>
        </p:nvSpPr>
        <p:spPr>
          <a:xfrm>
            <a:off x="932688" y="4023360"/>
            <a:ext cx="3520440" cy="694944"/>
          </a:xfrm>
          <a:prstGeom prst="rect">
            <a:avLst/>
          </a:prstGeom>
          <a:noFill/>
          <a:ln/>
        </p:spPr>
        <p:txBody>
          <a:bodyPr wrap="square" rtlCol="0" anchor="ctr"/>
          <a:lstStyle/>
          <a:p>
            <a:pPr indent="0" marL="0">
              <a:lnSpc>
                <a:spcPct val="135000"/>
              </a:lnSpc>
              <a:buNone/>
            </a:pPr>
            <a:r>
              <a:rPr lang="en-US" sz="1050" dirty="0">
                <a:solidFill>
                  <a:srgbClr val="1A2E4A"/>
                </a:solidFill>
                <a:latin typeface="Calibri" pitchFamily="34" charset="0"/>
                <a:ea typeface="Calibri" pitchFamily="34" charset="-122"/>
                <a:cs typeface="Calibri" pitchFamily="34" charset="-120"/>
              </a:rPr>
              <a:t>Develop a reusable, custom object-oriented utility library (QRTicketManager).</a:t>
            </a:r>
            <a:endParaRPr lang="en-US" sz="1050" dirty="0"/>
          </a:p>
        </p:txBody>
      </p:sp>
      <p:sp>
        <p:nvSpPr>
          <p:cNvPr id="31" name="Shape 29"/>
          <p:cNvSpPr/>
          <p:nvPr/>
        </p:nvSpPr>
        <p:spPr>
          <a:xfrm>
            <a:off x="4791456" y="3675888"/>
            <a:ext cx="4206240" cy="1133856"/>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32" name="Shape 30"/>
          <p:cNvSpPr/>
          <p:nvPr/>
        </p:nvSpPr>
        <p:spPr>
          <a:xfrm>
            <a:off x="4791456" y="3675888"/>
            <a:ext cx="438912" cy="1133856"/>
          </a:xfrm>
          <a:prstGeom prst="rect">
            <a:avLst/>
          </a:prstGeom>
          <a:solidFill>
            <a:srgbClr val="EBF1F9"/>
          </a:solidFill>
          <a:ln/>
        </p:spPr>
      </p:sp>
      <p:sp>
        <p:nvSpPr>
          <p:cNvPr id="33" name="Text 31"/>
          <p:cNvSpPr/>
          <p:nvPr/>
        </p:nvSpPr>
        <p:spPr>
          <a:xfrm>
            <a:off x="4791456" y="3675888"/>
            <a:ext cx="438912" cy="1133856"/>
          </a:xfrm>
          <a:prstGeom prst="rect">
            <a:avLst/>
          </a:prstGeom>
          <a:noFill/>
          <a:ln/>
        </p:spPr>
        <p:txBody>
          <a:bodyPr wrap="square" lIns="0" tIns="0" rIns="0" bIns="0" rtlCol="0" anchor="ctr"/>
          <a:lstStyle/>
          <a:p>
            <a:pPr algn="ctr" indent="0" marL="0">
              <a:buNone/>
            </a:pPr>
            <a:r>
              <a:rPr lang="en-US" sz="1300" b="1" dirty="0">
                <a:solidFill>
                  <a:srgbClr val="2563A8"/>
                </a:solidFill>
                <a:latin typeface="Calibri" pitchFamily="34" charset="0"/>
                <a:ea typeface="Calibri" pitchFamily="34" charset="-122"/>
                <a:cs typeface="Calibri" pitchFamily="34" charset="-120"/>
              </a:rPr>
              <a:t>O6</a:t>
            </a:r>
            <a:endParaRPr lang="en-US" sz="1300" dirty="0"/>
          </a:p>
        </p:txBody>
      </p:sp>
      <p:sp>
        <p:nvSpPr>
          <p:cNvPr id="34" name="Text 32"/>
          <p:cNvSpPr/>
          <p:nvPr/>
        </p:nvSpPr>
        <p:spPr>
          <a:xfrm>
            <a:off x="5340096" y="3785616"/>
            <a:ext cx="3520440" cy="201168"/>
          </a:xfrm>
          <a:prstGeom prst="rect">
            <a:avLst/>
          </a:prstGeom>
          <a:noFill/>
          <a:ln/>
        </p:spPr>
        <p:txBody>
          <a:bodyPr wrap="square" rtlCol="0" anchor="ctr"/>
          <a:lstStyle/>
          <a:p>
            <a:pPr indent="0" marL="0">
              <a:buNone/>
            </a:pPr>
            <a:r>
              <a:rPr lang="en-US" sz="750" b="1" spc="80" kern="0" dirty="0">
                <a:solidFill>
                  <a:srgbClr val="8096AE"/>
                </a:solidFill>
                <a:latin typeface="Calibri" pitchFamily="34" charset="0"/>
                <a:ea typeface="Calibri" pitchFamily="34" charset="-122"/>
                <a:cs typeface="Calibri" pitchFamily="34" charset="-120"/>
              </a:rPr>
              <a:t>DEPLOYMENT</a:t>
            </a:r>
            <a:endParaRPr lang="en-US" sz="750" dirty="0"/>
          </a:p>
        </p:txBody>
      </p:sp>
      <p:sp>
        <p:nvSpPr>
          <p:cNvPr id="35" name="Text 33"/>
          <p:cNvSpPr/>
          <p:nvPr/>
        </p:nvSpPr>
        <p:spPr>
          <a:xfrm>
            <a:off x="5340096" y="4023360"/>
            <a:ext cx="3520440" cy="694944"/>
          </a:xfrm>
          <a:prstGeom prst="rect">
            <a:avLst/>
          </a:prstGeom>
          <a:noFill/>
          <a:ln/>
        </p:spPr>
        <p:txBody>
          <a:bodyPr wrap="square" rtlCol="0" anchor="ctr"/>
          <a:lstStyle/>
          <a:p>
            <a:pPr indent="0" marL="0">
              <a:lnSpc>
                <a:spcPct val="135000"/>
              </a:lnSpc>
              <a:buNone/>
            </a:pPr>
            <a:r>
              <a:rPr lang="en-US" sz="1050" dirty="0">
                <a:solidFill>
                  <a:srgbClr val="1A2E4A"/>
                </a:solidFill>
                <a:latin typeface="Calibri" pitchFamily="34" charset="0"/>
                <a:ea typeface="Calibri" pitchFamily="34" charset="-122"/>
                <a:cs typeface="Calibri" pitchFamily="34" charset="-120"/>
              </a:rPr>
              <a:t>Deploy the full application on a public cloud platform with a configured CI/CD pipeline.</a:t>
            </a:r>
            <a:endParaRPr lang="en-US" sz="1050" dirty="0"/>
          </a:p>
        </p:txBody>
      </p:sp>
      <p:sp>
        <p:nvSpPr>
          <p:cNvPr id="36" name="Text 34"/>
          <p:cNvSpPr/>
          <p:nvPr/>
        </p:nvSpPr>
        <p:spPr>
          <a:xfrm>
            <a:off x="8732520" y="4846320"/>
            <a:ext cx="320040" cy="201168"/>
          </a:xfrm>
          <a:prstGeom prst="rect">
            <a:avLst/>
          </a:prstGeom>
          <a:noFill/>
          <a:ln/>
        </p:spPr>
        <p:txBody>
          <a:bodyPr wrap="square" rtlCol="0" anchor="ctr"/>
          <a:lstStyle/>
          <a:p>
            <a:pPr algn="r" indent="0" marL="0">
              <a:buNone/>
            </a:pPr>
            <a:r>
              <a:rPr lang="en-US" sz="800" dirty="0">
                <a:solidFill>
                  <a:srgbClr val="8096AE"/>
                </a:solidFill>
                <a:latin typeface="Calibri" pitchFamily="34" charset="0"/>
                <a:ea typeface="Calibri" pitchFamily="34" charset="-122"/>
                <a:cs typeface="Calibri"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563A8"/>
          </a:solidFill>
          <a:ln/>
        </p:spPr>
      </p:sp>
      <p:sp>
        <p:nvSpPr>
          <p:cNvPr id="3" name="Text 1"/>
          <p:cNvSpPr/>
          <p:nvPr/>
        </p:nvSpPr>
        <p:spPr>
          <a:xfrm>
            <a:off x="411480" y="274320"/>
            <a:ext cx="8229600" cy="237744"/>
          </a:xfrm>
          <a:prstGeom prst="rect">
            <a:avLst/>
          </a:prstGeom>
          <a:noFill/>
          <a:ln/>
        </p:spPr>
        <p:txBody>
          <a:bodyPr wrap="square" rtlCol="0" anchor="ctr"/>
          <a:lstStyle/>
          <a:p>
            <a:pPr indent="0" marL="0">
              <a:buNone/>
            </a:pPr>
            <a:r>
              <a:rPr lang="en-US" sz="800" b="1" spc="200" kern="0" dirty="0">
                <a:solidFill>
                  <a:srgbClr val="8096AE"/>
                </a:solidFill>
                <a:latin typeface="Calibri" pitchFamily="34" charset="0"/>
                <a:ea typeface="Calibri" pitchFamily="34" charset="-122"/>
                <a:cs typeface="Calibri" pitchFamily="34" charset="-120"/>
              </a:rPr>
              <a:t>PROPOSED SYSTEM ARCHITECTURE</a:t>
            </a:r>
            <a:endParaRPr lang="en-US" sz="800" dirty="0"/>
          </a:p>
        </p:txBody>
      </p:sp>
      <p:sp>
        <p:nvSpPr>
          <p:cNvPr id="4" name="Text 2"/>
          <p:cNvSpPr/>
          <p:nvPr/>
        </p:nvSpPr>
        <p:spPr>
          <a:xfrm>
            <a:off x="411480" y="530352"/>
            <a:ext cx="8229600" cy="45720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Cloud Infrastructure Overview</a:t>
            </a:r>
            <a:endParaRPr lang="en-US" sz="2400" dirty="0"/>
          </a:p>
        </p:txBody>
      </p:sp>
      <p:sp>
        <p:nvSpPr>
          <p:cNvPr id="5" name="Shape 3"/>
          <p:cNvSpPr/>
          <p:nvPr/>
        </p:nvSpPr>
        <p:spPr>
          <a:xfrm>
            <a:off x="411480" y="1152144"/>
            <a:ext cx="1572768" cy="749808"/>
          </a:xfrm>
          <a:prstGeom prst="rect">
            <a:avLst/>
          </a:prstGeom>
          <a:solidFill>
            <a:srgbClr val="243D5C"/>
          </a:solidFill>
          <a:ln w="9525">
            <a:solidFill>
              <a:srgbClr val="3A5878"/>
            </a:solidFill>
            <a:prstDash val="solid"/>
          </a:ln>
        </p:spPr>
      </p:sp>
      <p:sp>
        <p:nvSpPr>
          <p:cNvPr id="6" name="Text 4"/>
          <p:cNvSpPr/>
          <p:nvPr/>
        </p:nvSpPr>
        <p:spPr>
          <a:xfrm>
            <a:off x="484632" y="1188720"/>
            <a:ext cx="142646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User</a:t>
            </a:r>
            <a:endParaRPr lang="en-US" sz="1100" dirty="0"/>
          </a:p>
        </p:txBody>
      </p:sp>
      <p:sp>
        <p:nvSpPr>
          <p:cNvPr id="7" name="Text 5"/>
          <p:cNvSpPr/>
          <p:nvPr/>
        </p:nvSpPr>
        <p:spPr>
          <a:xfrm>
            <a:off x="484632" y="1517904"/>
            <a:ext cx="1426464" cy="329184"/>
          </a:xfrm>
          <a:prstGeom prst="rect">
            <a:avLst/>
          </a:prstGeom>
          <a:noFill/>
          <a:ln/>
        </p:spPr>
        <p:txBody>
          <a:bodyPr wrap="square" rtlCol="0" anchor="ctr"/>
          <a:lstStyle/>
          <a:p>
            <a:pPr algn="ctr" indent="0" marL="0">
              <a:buNone/>
            </a:pPr>
            <a:r>
              <a:rPr lang="en-US" sz="850" dirty="0">
                <a:solidFill>
                  <a:srgbClr val="8096AE"/>
                </a:solidFill>
                <a:latin typeface="Calibri" pitchFamily="34" charset="0"/>
                <a:ea typeface="Calibri" pitchFamily="34" charset="-122"/>
                <a:cs typeface="Calibri" pitchFamily="34" charset="-120"/>
              </a:rPr>
              <a:t>Browser / App</a:t>
            </a:r>
            <a:endParaRPr lang="en-US" sz="850" dirty="0"/>
          </a:p>
        </p:txBody>
      </p:sp>
      <p:sp>
        <p:nvSpPr>
          <p:cNvPr id="8" name="Shape 6"/>
          <p:cNvSpPr/>
          <p:nvPr/>
        </p:nvSpPr>
        <p:spPr>
          <a:xfrm>
            <a:off x="1984248" y="1499616"/>
            <a:ext cx="548640" cy="18288"/>
          </a:xfrm>
          <a:prstGeom prst="rect">
            <a:avLst/>
          </a:prstGeom>
          <a:solidFill>
            <a:srgbClr val="2563A8"/>
          </a:solidFill>
          <a:ln/>
        </p:spPr>
      </p:sp>
      <p:sp>
        <p:nvSpPr>
          <p:cNvPr id="9" name="Text 7"/>
          <p:cNvSpPr/>
          <p:nvPr/>
        </p:nvSpPr>
        <p:spPr>
          <a:xfrm>
            <a:off x="2441448" y="1408176"/>
            <a:ext cx="128016" cy="201168"/>
          </a:xfrm>
          <a:prstGeom prst="rect">
            <a:avLst/>
          </a:prstGeom>
          <a:noFill/>
          <a:ln/>
        </p:spPr>
        <p:txBody>
          <a:bodyPr wrap="square" rtlCol="0" anchor="ctr"/>
          <a:lstStyle/>
          <a:p>
            <a:pPr algn="ctr" indent="0" marL="0">
              <a:buNone/>
            </a:pPr>
            <a:r>
              <a:rPr lang="en-US" sz="1000" dirty="0">
                <a:solidFill>
                  <a:srgbClr val="2563A8"/>
                </a:solidFill>
                <a:latin typeface="Calibri" pitchFamily="34" charset="0"/>
                <a:ea typeface="Calibri" pitchFamily="34" charset="-122"/>
                <a:cs typeface="Calibri" pitchFamily="34" charset="-120"/>
              </a:rPr>
              <a:t>&gt;</a:t>
            </a:r>
            <a:endParaRPr lang="en-US" sz="1000" dirty="0"/>
          </a:p>
        </p:txBody>
      </p:sp>
      <p:sp>
        <p:nvSpPr>
          <p:cNvPr id="10" name="Shape 8"/>
          <p:cNvSpPr/>
          <p:nvPr/>
        </p:nvSpPr>
        <p:spPr>
          <a:xfrm>
            <a:off x="2121408" y="1152144"/>
            <a:ext cx="1572768" cy="749808"/>
          </a:xfrm>
          <a:prstGeom prst="rect">
            <a:avLst/>
          </a:prstGeom>
          <a:solidFill>
            <a:srgbClr val="243D5C"/>
          </a:solidFill>
          <a:ln w="9525">
            <a:solidFill>
              <a:srgbClr val="3A5878"/>
            </a:solidFill>
            <a:prstDash val="solid"/>
          </a:ln>
        </p:spPr>
      </p:sp>
      <p:sp>
        <p:nvSpPr>
          <p:cNvPr id="11" name="Text 9"/>
          <p:cNvSpPr/>
          <p:nvPr/>
        </p:nvSpPr>
        <p:spPr>
          <a:xfrm>
            <a:off x="2194560" y="1188720"/>
            <a:ext cx="142646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CloudFront</a:t>
            </a:r>
            <a:endParaRPr lang="en-US" sz="1100" dirty="0"/>
          </a:p>
        </p:txBody>
      </p:sp>
      <p:sp>
        <p:nvSpPr>
          <p:cNvPr id="12" name="Text 10"/>
          <p:cNvSpPr/>
          <p:nvPr/>
        </p:nvSpPr>
        <p:spPr>
          <a:xfrm>
            <a:off x="2194560" y="1517904"/>
            <a:ext cx="1426464" cy="329184"/>
          </a:xfrm>
          <a:prstGeom prst="rect">
            <a:avLst/>
          </a:prstGeom>
          <a:noFill/>
          <a:ln/>
        </p:spPr>
        <p:txBody>
          <a:bodyPr wrap="square" rtlCol="0" anchor="ctr"/>
          <a:lstStyle/>
          <a:p>
            <a:pPr algn="ctr" indent="0" marL="0">
              <a:buNone/>
            </a:pPr>
            <a:r>
              <a:rPr lang="en-US" sz="850" dirty="0">
                <a:solidFill>
                  <a:srgbClr val="8096AE"/>
                </a:solidFill>
                <a:latin typeface="Calibri" pitchFamily="34" charset="0"/>
                <a:ea typeface="Calibri" pitchFamily="34" charset="-122"/>
                <a:cs typeface="Calibri" pitchFamily="34" charset="-120"/>
              </a:rPr>
              <a:t>CDN / SSL</a:t>
            </a:r>
            <a:endParaRPr lang="en-US" sz="850" dirty="0"/>
          </a:p>
        </p:txBody>
      </p:sp>
      <p:sp>
        <p:nvSpPr>
          <p:cNvPr id="13" name="Shape 11"/>
          <p:cNvSpPr/>
          <p:nvPr/>
        </p:nvSpPr>
        <p:spPr>
          <a:xfrm>
            <a:off x="3694176" y="1499616"/>
            <a:ext cx="548640" cy="18288"/>
          </a:xfrm>
          <a:prstGeom prst="rect">
            <a:avLst/>
          </a:prstGeom>
          <a:solidFill>
            <a:srgbClr val="2563A8"/>
          </a:solidFill>
          <a:ln/>
        </p:spPr>
      </p:sp>
      <p:sp>
        <p:nvSpPr>
          <p:cNvPr id="14" name="Text 12"/>
          <p:cNvSpPr/>
          <p:nvPr/>
        </p:nvSpPr>
        <p:spPr>
          <a:xfrm>
            <a:off x="4151376" y="1408176"/>
            <a:ext cx="128016" cy="201168"/>
          </a:xfrm>
          <a:prstGeom prst="rect">
            <a:avLst/>
          </a:prstGeom>
          <a:noFill/>
          <a:ln/>
        </p:spPr>
        <p:txBody>
          <a:bodyPr wrap="square" rtlCol="0" anchor="ctr"/>
          <a:lstStyle/>
          <a:p>
            <a:pPr algn="ctr" indent="0" marL="0">
              <a:buNone/>
            </a:pPr>
            <a:r>
              <a:rPr lang="en-US" sz="1000" dirty="0">
                <a:solidFill>
                  <a:srgbClr val="2563A8"/>
                </a:solidFill>
                <a:latin typeface="Calibri" pitchFamily="34" charset="0"/>
                <a:ea typeface="Calibri" pitchFamily="34" charset="-122"/>
                <a:cs typeface="Calibri" pitchFamily="34" charset="-120"/>
              </a:rPr>
              <a:t>&gt;</a:t>
            </a:r>
            <a:endParaRPr lang="en-US" sz="1000" dirty="0"/>
          </a:p>
        </p:txBody>
      </p:sp>
      <p:sp>
        <p:nvSpPr>
          <p:cNvPr id="15" name="Shape 13"/>
          <p:cNvSpPr/>
          <p:nvPr/>
        </p:nvSpPr>
        <p:spPr>
          <a:xfrm>
            <a:off x="3831336" y="1152144"/>
            <a:ext cx="1572768" cy="749808"/>
          </a:xfrm>
          <a:prstGeom prst="rect">
            <a:avLst/>
          </a:prstGeom>
          <a:solidFill>
            <a:srgbClr val="243D5C"/>
          </a:solidFill>
          <a:ln w="9525">
            <a:solidFill>
              <a:srgbClr val="3A5878"/>
            </a:solidFill>
            <a:prstDash val="solid"/>
          </a:ln>
        </p:spPr>
      </p:sp>
      <p:sp>
        <p:nvSpPr>
          <p:cNvPr id="16" name="Text 14"/>
          <p:cNvSpPr/>
          <p:nvPr/>
        </p:nvSpPr>
        <p:spPr>
          <a:xfrm>
            <a:off x="3904488" y="1188720"/>
            <a:ext cx="142646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17" name="Text 15"/>
          <p:cNvSpPr/>
          <p:nvPr/>
        </p:nvSpPr>
        <p:spPr>
          <a:xfrm>
            <a:off x="3904488" y="1517904"/>
            <a:ext cx="1426464" cy="329184"/>
          </a:xfrm>
          <a:prstGeom prst="rect">
            <a:avLst/>
          </a:prstGeom>
          <a:noFill/>
          <a:ln/>
        </p:spPr>
        <p:txBody>
          <a:bodyPr wrap="square" rtlCol="0" anchor="ctr"/>
          <a:lstStyle/>
          <a:p>
            <a:pPr algn="ctr" indent="0" marL="0">
              <a:buNone/>
            </a:pPr>
            <a:r>
              <a:rPr lang="en-US" sz="850" dirty="0">
                <a:solidFill>
                  <a:srgbClr val="8096AE"/>
                </a:solidFill>
                <a:latin typeface="Calibri" pitchFamily="34" charset="0"/>
                <a:ea typeface="Calibri" pitchFamily="34" charset="-122"/>
                <a:cs typeface="Calibri" pitchFamily="34" charset="-120"/>
              </a:rPr>
              <a:t>Auth &amp; Routing</a:t>
            </a:r>
            <a:endParaRPr lang="en-US" sz="850" dirty="0"/>
          </a:p>
        </p:txBody>
      </p:sp>
      <p:sp>
        <p:nvSpPr>
          <p:cNvPr id="18" name="Shape 16"/>
          <p:cNvSpPr/>
          <p:nvPr/>
        </p:nvSpPr>
        <p:spPr>
          <a:xfrm>
            <a:off x="5404104" y="1499616"/>
            <a:ext cx="548640" cy="18288"/>
          </a:xfrm>
          <a:prstGeom prst="rect">
            <a:avLst/>
          </a:prstGeom>
          <a:solidFill>
            <a:srgbClr val="2563A8"/>
          </a:solidFill>
          <a:ln/>
        </p:spPr>
      </p:sp>
      <p:sp>
        <p:nvSpPr>
          <p:cNvPr id="19" name="Text 17"/>
          <p:cNvSpPr/>
          <p:nvPr/>
        </p:nvSpPr>
        <p:spPr>
          <a:xfrm>
            <a:off x="5861304" y="1408176"/>
            <a:ext cx="128016" cy="201168"/>
          </a:xfrm>
          <a:prstGeom prst="rect">
            <a:avLst/>
          </a:prstGeom>
          <a:noFill/>
          <a:ln/>
        </p:spPr>
        <p:txBody>
          <a:bodyPr wrap="square" rtlCol="0" anchor="ctr"/>
          <a:lstStyle/>
          <a:p>
            <a:pPr algn="ctr" indent="0" marL="0">
              <a:buNone/>
            </a:pPr>
            <a:r>
              <a:rPr lang="en-US" sz="1000" dirty="0">
                <a:solidFill>
                  <a:srgbClr val="2563A8"/>
                </a:solidFill>
                <a:latin typeface="Calibri" pitchFamily="34" charset="0"/>
                <a:ea typeface="Calibri" pitchFamily="34" charset="-122"/>
                <a:cs typeface="Calibri" pitchFamily="34" charset="-120"/>
              </a:rPr>
              <a:t>&gt;</a:t>
            </a:r>
            <a:endParaRPr lang="en-US" sz="1000" dirty="0"/>
          </a:p>
        </p:txBody>
      </p:sp>
      <p:sp>
        <p:nvSpPr>
          <p:cNvPr id="20" name="Shape 18"/>
          <p:cNvSpPr/>
          <p:nvPr/>
        </p:nvSpPr>
        <p:spPr>
          <a:xfrm>
            <a:off x="5541264" y="1152144"/>
            <a:ext cx="1572768" cy="749808"/>
          </a:xfrm>
          <a:prstGeom prst="rect">
            <a:avLst/>
          </a:prstGeom>
          <a:solidFill>
            <a:srgbClr val="243D5C"/>
          </a:solidFill>
          <a:ln w="9525">
            <a:solidFill>
              <a:srgbClr val="3A5878"/>
            </a:solidFill>
            <a:prstDash val="solid"/>
          </a:ln>
        </p:spPr>
      </p:sp>
      <p:sp>
        <p:nvSpPr>
          <p:cNvPr id="21" name="Text 19"/>
          <p:cNvSpPr/>
          <p:nvPr/>
        </p:nvSpPr>
        <p:spPr>
          <a:xfrm>
            <a:off x="5614416" y="1188720"/>
            <a:ext cx="142646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Load Balancer</a:t>
            </a:r>
            <a:endParaRPr lang="en-US" sz="1100" dirty="0"/>
          </a:p>
        </p:txBody>
      </p:sp>
      <p:sp>
        <p:nvSpPr>
          <p:cNvPr id="22" name="Text 20"/>
          <p:cNvSpPr/>
          <p:nvPr/>
        </p:nvSpPr>
        <p:spPr>
          <a:xfrm>
            <a:off x="5614416" y="1517904"/>
            <a:ext cx="1426464" cy="329184"/>
          </a:xfrm>
          <a:prstGeom prst="rect">
            <a:avLst/>
          </a:prstGeom>
          <a:noFill/>
          <a:ln/>
        </p:spPr>
        <p:txBody>
          <a:bodyPr wrap="square" rtlCol="0" anchor="ctr"/>
          <a:lstStyle/>
          <a:p>
            <a:pPr algn="ctr" indent="0" marL="0">
              <a:buNone/>
            </a:pPr>
            <a:r>
              <a:rPr lang="en-US" sz="850" dirty="0">
                <a:solidFill>
                  <a:srgbClr val="8096AE"/>
                </a:solidFill>
                <a:latin typeface="Calibri" pitchFamily="34" charset="0"/>
                <a:ea typeface="Calibri" pitchFamily="34" charset="-122"/>
                <a:cs typeface="Calibri" pitchFamily="34" charset="-120"/>
              </a:rPr>
              <a:t>ALB</a:t>
            </a:r>
            <a:endParaRPr lang="en-US" sz="850" dirty="0"/>
          </a:p>
        </p:txBody>
      </p:sp>
      <p:sp>
        <p:nvSpPr>
          <p:cNvPr id="23" name="Shape 21"/>
          <p:cNvSpPr/>
          <p:nvPr/>
        </p:nvSpPr>
        <p:spPr>
          <a:xfrm>
            <a:off x="7114032" y="1499616"/>
            <a:ext cx="548640" cy="18288"/>
          </a:xfrm>
          <a:prstGeom prst="rect">
            <a:avLst/>
          </a:prstGeom>
          <a:solidFill>
            <a:srgbClr val="2563A8"/>
          </a:solidFill>
          <a:ln/>
        </p:spPr>
      </p:sp>
      <p:sp>
        <p:nvSpPr>
          <p:cNvPr id="24" name="Text 22"/>
          <p:cNvSpPr/>
          <p:nvPr/>
        </p:nvSpPr>
        <p:spPr>
          <a:xfrm>
            <a:off x="7571232" y="1408176"/>
            <a:ext cx="128016" cy="201168"/>
          </a:xfrm>
          <a:prstGeom prst="rect">
            <a:avLst/>
          </a:prstGeom>
          <a:noFill/>
          <a:ln/>
        </p:spPr>
        <p:txBody>
          <a:bodyPr wrap="square" rtlCol="0" anchor="ctr"/>
          <a:lstStyle/>
          <a:p>
            <a:pPr algn="ctr" indent="0" marL="0">
              <a:buNone/>
            </a:pPr>
            <a:r>
              <a:rPr lang="en-US" sz="1000" dirty="0">
                <a:solidFill>
                  <a:srgbClr val="2563A8"/>
                </a:solidFill>
                <a:latin typeface="Calibri" pitchFamily="34" charset="0"/>
                <a:ea typeface="Calibri" pitchFamily="34" charset="-122"/>
                <a:cs typeface="Calibri" pitchFamily="34" charset="-120"/>
              </a:rPr>
              <a:t>&gt;</a:t>
            </a:r>
            <a:endParaRPr lang="en-US" sz="1000" dirty="0"/>
          </a:p>
        </p:txBody>
      </p:sp>
      <p:sp>
        <p:nvSpPr>
          <p:cNvPr id="25" name="Shape 23"/>
          <p:cNvSpPr/>
          <p:nvPr/>
        </p:nvSpPr>
        <p:spPr>
          <a:xfrm>
            <a:off x="7251192" y="1152144"/>
            <a:ext cx="1572768" cy="749808"/>
          </a:xfrm>
          <a:prstGeom prst="rect">
            <a:avLst/>
          </a:prstGeom>
          <a:solidFill>
            <a:srgbClr val="243D5C"/>
          </a:solidFill>
          <a:ln w="9525">
            <a:solidFill>
              <a:srgbClr val="3A5878"/>
            </a:solidFill>
            <a:prstDash val="solid"/>
          </a:ln>
        </p:spPr>
      </p:sp>
      <p:sp>
        <p:nvSpPr>
          <p:cNvPr id="26" name="Text 24"/>
          <p:cNvSpPr/>
          <p:nvPr/>
        </p:nvSpPr>
        <p:spPr>
          <a:xfrm>
            <a:off x="7324344" y="1188720"/>
            <a:ext cx="142646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EC2</a:t>
            </a:r>
            <a:endParaRPr lang="en-US" sz="1100" dirty="0"/>
          </a:p>
        </p:txBody>
      </p:sp>
      <p:sp>
        <p:nvSpPr>
          <p:cNvPr id="27" name="Text 25"/>
          <p:cNvSpPr/>
          <p:nvPr/>
        </p:nvSpPr>
        <p:spPr>
          <a:xfrm>
            <a:off x="7324344" y="1517904"/>
            <a:ext cx="1426464" cy="329184"/>
          </a:xfrm>
          <a:prstGeom prst="rect">
            <a:avLst/>
          </a:prstGeom>
          <a:noFill/>
          <a:ln/>
        </p:spPr>
        <p:txBody>
          <a:bodyPr wrap="square" rtlCol="0" anchor="ctr"/>
          <a:lstStyle/>
          <a:p>
            <a:pPr algn="ctr" indent="0" marL="0">
              <a:buNone/>
            </a:pPr>
            <a:r>
              <a:rPr lang="en-US" sz="850" dirty="0">
                <a:solidFill>
                  <a:srgbClr val="8096AE"/>
                </a:solidFill>
                <a:latin typeface="Calibri" pitchFamily="34" charset="0"/>
                <a:ea typeface="Calibri" pitchFamily="34" charset="-122"/>
                <a:cs typeface="Calibri" pitchFamily="34" charset="-120"/>
              </a:rPr>
              <a:t>Application Server</a:t>
            </a:r>
            <a:endParaRPr lang="en-US" sz="850" dirty="0"/>
          </a:p>
        </p:txBody>
      </p:sp>
      <p:sp>
        <p:nvSpPr>
          <p:cNvPr id="28" name="Shape 26"/>
          <p:cNvSpPr/>
          <p:nvPr/>
        </p:nvSpPr>
        <p:spPr>
          <a:xfrm>
            <a:off x="8028432" y="1901952"/>
            <a:ext cx="18288" cy="402336"/>
          </a:xfrm>
          <a:prstGeom prst="rect">
            <a:avLst/>
          </a:prstGeom>
          <a:solidFill>
            <a:srgbClr val="2563A8"/>
          </a:solidFill>
          <a:ln/>
        </p:spPr>
      </p:sp>
      <p:sp>
        <p:nvSpPr>
          <p:cNvPr id="29" name="Shape 27"/>
          <p:cNvSpPr/>
          <p:nvPr/>
        </p:nvSpPr>
        <p:spPr>
          <a:xfrm>
            <a:off x="411480" y="2377440"/>
            <a:ext cx="8321040" cy="256032"/>
          </a:xfrm>
          <a:prstGeom prst="rect">
            <a:avLst/>
          </a:prstGeom>
          <a:solidFill>
            <a:srgbClr val="22364E"/>
          </a:solidFill>
          <a:ln/>
        </p:spPr>
      </p:sp>
      <p:sp>
        <p:nvSpPr>
          <p:cNvPr id="30" name="Text 28"/>
          <p:cNvSpPr/>
          <p:nvPr/>
        </p:nvSpPr>
        <p:spPr>
          <a:xfrm>
            <a:off x="411480" y="2377440"/>
            <a:ext cx="8321040" cy="256032"/>
          </a:xfrm>
          <a:prstGeom prst="rect">
            <a:avLst/>
          </a:prstGeom>
          <a:noFill/>
          <a:ln/>
        </p:spPr>
        <p:txBody>
          <a:bodyPr wrap="square" rtlCol="0" anchor="ctr"/>
          <a:lstStyle/>
          <a:p>
            <a:pPr algn="ctr" indent="0" marL="0">
              <a:buNone/>
            </a:pPr>
            <a:r>
              <a:rPr lang="en-US" sz="800" b="1" spc="200" kern="0" dirty="0">
                <a:solidFill>
                  <a:srgbClr val="8096AE"/>
                </a:solidFill>
                <a:latin typeface="Calibri" pitchFamily="34" charset="0"/>
                <a:ea typeface="Calibri" pitchFamily="34" charset="-122"/>
                <a:cs typeface="Calibri" pitchFamily="34" charset="-120"/>
              </a:rPr>
              <a:t>AWS BACKEND SERVICES</a:t>
            </a:r>
            <a:endParaRPr lang="en-US" sz="800" dirty="0"/>
          </a:p>
        </p:txBody>
      </p:sp>
      <p:sp>
        <p:nvSpPr>
          <p:cNvPr id="31" name="Shape 29"/>
          <p:cNvSpPr/>
          <p:nvPr/>
        </p:nvSpPr>
        <p:spPr>
          <a:xfrm>
            <a:off x="411480" y="2743200"/>
            <a:ext cx="1993392" cy="1261872"/>
          </a:xfrm>
          <a:prstGeom prst="rect">
            <a:avLst/>
          </a:prstGeom>
          <a:solidFill>
            <a:srgbClr val="243D5C"/>
          </a:solidFill>
          <a:ln w="9525">
            <a:solidFill>
              <a:srgbClr val="3A5878"/>
            </a:solidFill>
            <a:prstDash val="solid"/>
          </a:ln>
        </p:spPr>
      </p:sp>
      <p:sp>
        <p:nvSpPr>
          <p:cNvPr id="32" name="Shape 30"/>
          <p:cNvSpPr/>
          <p:nvPr/>
        </p:nvSpPr>
        <p:spPr>
          <a:xfrm>
            <a:off x="411480" y="2743200"/>
            <a:ext cx="54864" cy="1261872"/>
          </a:xfrm>
          <a:prstGeom prst="rect">
            <a:avLst/>
          </a:prstGeom>
          <a:solidFill>
            <a:srgbClr val="2563A8"/>
          </a:solidFill>
          <a:ln/>
        </p:spPr>
      </p:sp>
      <p:sp>
        <p:nvSpPr>
          <p:cNvPr id="33" name="Text 31"/>
          <p:cNvSpPr/>
          <p:nvPr/>
        </p:nvSpPr>
        <p:spPr>
          <a:xfrm>
            <a:off x="557784" y="2816352"/>
            <a:ext cx="173736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DynamoDB</a:t>
            </a:r>
            <a:endParaRPr lang="en-US" sz="1150" dirty="0"/>
          </a:p>
        </p:txBody>
      </p:sp>
      <p:sp>
        <p:nvSpPr>
          <p:cNvPr id="34" name="Text 32"/>
          <p:cNvSpPr/>
          <p:nvPr/>
        </p:nvSpPr>
        <p:spPr>
          <a:xfrm>
            <a:off x="557784" y="3108960"/>
            <a:ext cx="17373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Registrations &amp; Event Data</a:t>
            </a:r>
            <a:endParaRPr lang="en-US" sz="900" dirty="0"/>
          </a:p>
        </p:txBody>
      </p:sp>
      <p:sp>
        <p:nvSpPr>
          <p:cNvPr id="35" name="Text 33"/>
          <p:cNvSpPr/>
          <p:nvPr/>
        </p:nvSpPr>
        <p:spPr>
          <a:xfrm>
            <a:off x="557784" y="3401568"/>
            <a:ext cx="1737360" cy="512064"/>
          </a:xfrm>
          <a:prstGeom prst="rect">
            <a:avLst/>
          </a:prstGeom>
          <a:noFill/>
          <a:ln/>
        </p:spPr>
        <p:txBody>
          <a:bodyPr wrap="square" rtlCol="0" anchor="ctr"/>
          <a:lstStyle/>
          <a:p>
            <a:pPr indent="0" marL="0">
              <a:lnSpc>
                <a:spcPct val="130000"/>
              </a:lnSpc>
              <a:buNone/>
            </a:pPr>
            <a:r>
              <a:rPr lang="en-US" sz="900" dirty="0">
                <a:solidFill>
                  <a:srgbClr val="A8BECF"/>
                </a:solidFill>
                <a:latin typeface="Calibri" pitchFamily="34" charset="0"/>
                <a:ea typeface="Calibri" pitchFamily="34" charset="-122"/>
                <a:cs typeface="Calibri" pitchFamily="34" charset="-120"/>
              </a:rPr>
              <a:t>NoSQL database — fast, scalable, serverless</a:t>
            </a:r>
            <a:endParaRPr lang="en-US" sz="900" dirty="0"/>
          </a:p>
        </p:txBody>
      </p:sp>
      <p:sp>
        <p:nvSpPr>
          <p:cNvPr id="36" name="Shape 34"/>
          <p:cNvSpPr/>
          <p:nvPr/>
        </p:nvSpPr>
        <p:spPr>
          <a:xfrm>
            <a:off x="2532888" y="2743200"/>
            <a:ext cx="1993392" cy="1261872"/>
          </a:xfrm>
          <a:prstGeom prst="rect">
            <a:avLst/>
          </a:prstGeom>
          <a:solidFill>
            <a:srgbClr val="243D5C"/>
          </a:solidFill>
          <a:ln w="9525">
            <a:solidFill>
              <a:srgbClr val="3A5878"/>
            </a:solidFill>
            <a:prstDash val="solid"/>
          </a:ln>
        </p:spPr>
      </p:sp>
      <p:sp>
        <p:nvSpPr>
          <p:cNvPr id="37" name="Shape 35"/>
          <p:cNvSpPr/>
          <p:nvPr/>
        </p:nvSpPr>
        <p:spPr>
          <a:xfrm>
            <a:off x="2532888" y="2743200"/>
            <a:ext cx="54864" cy="1261872"/>
          </a:xfrm>
          <a:prstGeom prst="rect">
            <a:avLst/>
          </a:prstGeom>
          <a:solidFill>
            <a:srgbClr val="2563A8"/>
          </a:solidFill>
          <a:ln/>
        </p:spPr>
      </p:sp>
      <p:sp>
        <p:nvSpPr>
          <p:cNvPr id="38" name="Text 36"/>
          <p:cNvSpPr/>
          <p:nvPr/>
        </p:nvSpPr>
        <p:spPr>
          <a:xfrm>
            <a:off x="2679192" y="2816352"/>
            <a:ext cx="173736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AWS Lambda</a:t>
            </a:r>
            <a:endParaRPr lang="en-US" sz="1150" dirty="0"/>
          </a:p>
        </p:txBody>
      </p:sp>
      <p:sp>
        <p:nvSpPr>
          <p:cNvPr id="39" name="Text 37"/>
          <p:cNvSpPr/>
          <p:nvPr/>
        </p:nvSpPr>
        <p:spPr>
          <a:xfrm>
            <a:off x="2679192" y="3108960"/>
            <a:ext cx="17373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QR Generation &amp; Validation</a:t>
            </a:r>
            <a:endParaRPr lang="en-US" sz="900" dirty="0"/>
          </a:p>
        </p:txBody>
      </p:sp>
      <p:sp>
        <p:nvSpPr>
          <p:cNvPr id="40" name="Text 38"/>
          <p:cNvSpPr/>
          <p:nvPr/>
        </p:nvSpPr>
        <p:spPr>
          <a:xfrm>
            <a:off x="2679192" y="3401568"/>
            <a:ext cx="1737360" cy="512064"/>
          </a:xfrm>
          <a:prstGeom prst="rect">
            <a:avLst/>
          </a:prstGeom>
          <a:noFill/>
          <a:ln/>
        </p:spPr>
        <p:txBody>
          <a:bodyPr wrap="square" rtlCol="0" anchor="ctr"/>
          <a:lstStyle/>
          <a:p>
            <a:pPr indent="0" marL="0">
              <a:lnSpc>
                <a:spcPct val="130000"/>
              </a:lnSpc>
              <a:buNone/>
            </a:pPr>
            <a:r>
              <a:rPr lang="en-US" sz="900" dirty="0">
                <a:solidFill>
                  <a:srgbClr val="A8BECF"/>
                </a:solidFill>
                <a:latin typeface="Calibri" pitchFamily="34" charset="0"/>
                <a:ea typeface="Calibri" pitchFamily="34" charset="-122"/>
                <a:cs typeface="Calibri" pitchFamily="34" charset="-120"/>
              </a:rPr>
              <a:t>Serverless compute — event-driven functions</a:t>
            </a:r>
            <a:endParaRPr lang="en-US" sz="900" dirty="0"/>
          </a:p>
        </p:txBody>
      </p:sp>
      <p:sp>
        <p:nvSpPr>
          <p:cNvPr id="41" name="Shape 39"/>
          <p:cNvSpPr/>
          <p:nvPr/>
        </p:nvSpPr>
        <p:spPr>
          <a:xfrm>
            <a:off x="4654296" y="2743200"/>
            <a:ext cx="1993392" cy="1261872"/>
          </a:xfrm>
          <a:prstGeom prst="rect">
            <a:avLst/>
          </a:prstGeom>
          <a:solidFill>
            <a:srgbClr val="243D5C"/>
          </a:solidFill>
          <a:ln w="9525">
            <a:solidFill>
              <a:srgbClr val="3A5878"/>
            </a:solidFill>
            <a:prstDash val="solid"/>
          </a:ln>
        </p:spPr>
      </p:sp>
      <p:sp>
        <p:nvSpPr>
          <p:cNvPr id="42" name="Shape 40"/>
          <p:cNvSpPr/>
          <p:nvPr/>
        </p:nvSpPr>
        <p:spPr>
          <a:xfrm>
            <a:off x="4654296" y="2743200"/>
            <a:ext cx="54864" cy="1261872"/>
          </a:xfrm>
          <a:prstGeom prst="rect">
            <a:avLst/>
          </a:prstGeom>
          <a:solidFill>
            <a:srgbClr val="2563A8"/>
          </a:solidFill>
          <a:ln/>
        </p:spPr>
      </p:sp>
      <p:sp>
        <p:nvSpPr>
          <p:cNvPr id="43" name="Text 41"/>
          <p:cNvSpPr/>
          <p:nvPr/>
        </p:nvSpPr>
        <p:spPr>
          <a:xfrm>
            <a:off x="4800600" y="2816352"/>
            <a:ext cx="173736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S3 Bucket</a:t>
            </a:r>
            <a:endParaRPr lang="en-US" sz="1150" dirty="0"/>
          </a:p>
        </p:txBody>
      </p:sp>
      <p:sp>
        <p:nvSpPr>
          <p:cNvPr id="44" name="Text 42"/>
          <p:cNvSpPr/>
          <p:nvPr/>
        </p:nvSpPr>
        <p:spPr>
          <a:xfrm>
            <a:off x="4800600" y="3108960"/>
            <a:ext cx="17373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QR Tickets &amp; Static Assets</a:t>
            </a:r>
            <a:endParaRPr lang="en-US" sz="900" dirty="0"/>
          </a:p>
        </p:txBody>
      </p:sp>
      <p:sp>
        <p:nvSpPr>
          <p:cNvPr id="45" name="Text 43"/>
          <p:cNvSpPr/>
          <p:nvPr/>
        </p:nvSpPr>
        <p:spPr>
          <a:xfrm>
            <a:off x="4800600" y="3401568"/>
            <a:ext cx="1737360" cy="512064"/>
          </a:xfrm>
          <a:prstGeom prst="rect">
            <a:avLst/>
          </a:prstGeom>
          <a:noFill/>
          <a:ln/>
        </p:spPr>
        <p:txBody>
          <a:bodyPr wrap="square" rtlCol="0" anchor="ctr"/>
          <a:lstStyle/>
          <a:p>
            <a:pPr indent="0" marL="0">
              <a:lnSpc>
                <a:spcPct val="130000"/>
              </a:lnSpc>
              <a:buNone/>
            </a:pPr>
            <a:r>
              <a:rPr lang="en-US" sz="900" dirty="0">
                <a:solidFill>
                  <a:srgbClr val="A8BECF"/>
                </a:solidFill>
                <a:latin typeface="Calibri" pitchFamily="34" charset="0"/>
                <a:ea typeface="Calibri" pitchFamily="34" charset="-122"/>
                <a:cs typeface="Calibri" pitchFamily="34" charset="-120"/>
              </a:rPr>
              <a:t>Object storage — durable, globally accessible</a:t>
            </a:r>
            <a:endParaRPr lang="en-US" sz="900" dirty="0"/>
          </a:p>
        </p:txBody>
      </p:sp>
      <p:sp>
        <p:nvSpPr>
          <p:cNvPr id="46" name="Shape 44"/>
          <p:cNvSpPr/>
          <p:nvPr/>
        </p:nvSpPr>
        <p:spPr>
          <a:xfrm>
            <a:off x="6775704" y="2743200"/>
            <a:ext cx="1993392" cy="1261872"/>
          </a:xfrm>
          <a:prstGeom prst="rect">
            <a:avLst/>
          </a:prstGeom>
          <a:solidFill>
            <a:srgbClr val="243D5C"/>
          </a:solidFill>
          <a:ln w="9525">
            <a:solidFill>
              <a:srgbClr val="3A5878"/>
            </a:solidFill>
            <a:prstDash val="solid"/>
          </a:ln>
        </p:spPr>
      </p:sp>
      <p:sp>
        <p:nvSpPr>
          <p:cNvPr id="47" name="Shape 45"/>
          <p:cNvSpPr/>
          <p:nvPr/>
        </p:nvSpPr>
        <p:spPr>
          <a:xfrm>
            <a:off x="6775704" y="2743200"/>
            <a:ext cx="54864" cy="1261872"/>
          </a:xfrm>
          <a:prstGeom prst="rect">
            <a:avLst/>
          </a:prstGeom>
          <a:solidFill>
            <a:srgbClr val="2563A8"/>
          </a:solidFill>
          <a:ln/>
        </p:spPr>
      </p:sp>
      <p:sp>
        <p:nvSpPr>
          <p:cNvPr id="48" name="Text 46"/>
          <p:cNvSpPr/>
          <p:nvPr/>
        </p:nvSpPr>
        <p:spPr>
          <a:xfrm>
            <a:off x="6922008" y="2816352"/>
            <a:ext cx="173736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Auto Scaling</a:t>
            </a:r>
            <a:endParaRPr lang="en-US" sz="1150" dirty="0"/>
          </a:p>
        </p:txBody>
      </p:sp>
      <p:sp>
        <p:nvSpPr>
          <p:cNvPr id="49" name="Text 47"/>
          <p:cNvSpPr/>
          <p:nvPr/>
        </p:nvSpPr>
        <p:spPr>
          <a:xfrm>
            <a:off x="6922008" y="3108960"/>
            <a:ext cx="17373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High Availability &amp; Scaling</a:t>
            </a:r>
            <a:endParaRPr lang="en-US" sz="900" dirty="0"/>
          </a:p>
        </p:txBody>
      </p:sp>
      <p:sp>
        <p:nvSpPr>
          <p:cNvPr id="50" name="Text 48"/>
          <p:cNvSpPr/>
          <p:nvPr/>
        </p:nvSpPr>
        <p:spPr>
          <a:xfrm>
            <a:off x="6922008" y="3401568"/>
            <a:ext cx="1737360" cy="512064"/>
          </a:xfrm>
          <a:prstGeom prst="rect">
            <a:avLst/>
          </a:prstGeom>
          <a:noFill/>
          <a:ln/>
        </p:spPr>
        <p:txBody>
          <a:bodyPr wrap="square" rtlCol="0" anchor="ctr"/>
          <a:lstStyle/>
          <a:p>
            <a:pPr indent="0" marL="0">
              <a:lnSpc>
                <a:spcPct val="130000"/>
              </a:lnSpc>
              <a:buNone/>
            </a:pPr>
            <a:r>
              <a:rPr lang="en-US" sz="900" dirty="0">
                <a:solidFill>
                  <a:srgbClr val="A8BECF"/>
                </a:solidFill>
                <a:latin typeface="Calibri" pitchFamily="34" charset="0"/>
                <a:ea typeface="Calibri" pitchFamily="34" charset="-122"/>
                <a:cs typeface="Calibri" pitchFamily="34" charset="-120"/>
              </a:rPr>
              <a:t>Elastically adjusts EC2 capacity on demand</a:t>
            </a:r>
            <a:endParaRPr lang="en-US" sz="900" dirty="0"/>
          </a:p>
        </p:txBody>
      </p:sp>
      <p:sp>
        <p:nvSpPr>
          <p:cNvPr id="51" name="Shape 49"/>
          <p:cNvSpPr/>
          <p:nvPr/>
        </p:nvSpPr>
        <p:spPr>
          <a:xfrm>
            <a:off x="411480" y="4133088"/>
            <a:ext cx="8321040" cy="713232"/>
          </a:xfrm>
          <a:prstGeom prst="rect">
            <a:avLst/>
          </a:prstGeom>
          <a:solidFill>
            <a:srgbClr val="243D5C"/>
          </a:solidFill>
          <a:ln w="9525">
            <a:solidFill>
              <a:srgbClr val="3A5878"/>
            </a:solidFill>
            <a:prstDash val="solid"/>
          </a:ln>
        </p:spPr>
      </p:sp>
      <p:sp>
        <p:nvSpPr>
          <p:cNvPr id="52" name="Text 50"/>
          <p:cNvSpPr/>
          <p:nvPr/>
        </p:nvSpPr>
        <p:spPr>
          <a:xfrm>
            <a:off x="566928" y="4206240"/>
            <a:ext cx="1005840" cy="201168"/>
          </a:xfrm>
          <a:prstGeom prst="rect">
            <a:avLst/>
          </a:prstGeom>
          <a:noFill/>
          <a:ln/>
        </p:spPr>
        <p:txBody>
          <a:bodyPr wrap="square" rtlCol="0" anchor="ctr"/>
          <a:lstStyle/>
          <a:p>
            <a:pPr indent="0" marL="0">
              <a:buNone/>
            </a:pPr>
            <a:r>
              <a:rPr lang="en-US" sz="800" b="1" spc="100" kern="0" dirty="0">
                <a:solidFill>
                  <a:srgbClr val="2563A8"/>
                </a:solidFill>
                <a:latin typeface="Calibri" pitchFamily="34" charset="0"/>
                <a:ea typeface="Calibri" pitchFamily="34" charset="-122"/>
                <a:cs typeface="Calibri" pitchFamily="34" charset="-120"/>
              </a:rPr>
              <a:t>USER FLOW</a:t>
            </a:r>
            <a:endParaRPr lang="en-US" sz="800" dirty="0"/>
          </a:p>
        </p:txBody>
      </p:sp>
      <p:sp>
        <p:nvSpPr>
          <p:cNvPr id="53" name="Text 51"/>
          <p:cNvSpPr/>
          <p:nvPr/>
        </p:nvSpPr>
        <p:spPr>
          <a:xfrm>
            <a:off x="566928" y="4407408"/>
            <a:ext cx="7955280" cy="365760"/>
          </a:xfrm>
          <a:prstGeom prst="rect">
            <a:avLst/>
          </a:prstGeom>
          <a:noFill/>
          <a:ln/>
        </p:spPr>
        <p:txBody>
          <a:bodyPr wrap="square" rtlCol="0" anchor="ctr"/>
          <a:lstStyle/>
          <a:p>
            <a:pPr indent="0" marL="0">
              <a:buNone/>
            </a:pPr>
            <a:r>
              <a:rPr lang="en-US" sz="950" dirty="0">
                <a:solidFill>
                  <a:srgbClr val="A8BECF"/>
                </a:solidFill>
                <a:latin typeface="Calibri" pitchFamily="34" charset="0"/>
                <a:ea typeface="Calibri" pitchFamily="34" charset="-122"/>
                <a:cs typeface="Calibri" pitchFamily="34" charset="-120"/>
              </a:rPr>
              <a:t>User  →  CloudFront  →  API Gateway  →  Load Balancer  →  EC2 Application  →  Lambda  ↔  DynamoDB  +  S3</a:t>
            </a:r>
            <a:endParaRPr lang="en-US" sz="950" dirty="0"/>
          </a:p>
        </p:txBody>
      </p:sp>
      <p:sp>
        <p:nvSpPr>
          <p:cNvPr id="54" name="Text 52"/>
          <p:cNvSpPr/>
          <p:nvPr/>
        </p:nvSpPr>
        <p:spPr>
          <a:xfrm>
            <a:off x="8732520" y="4846320"/>
            <a:ext cx="320040" cy="201168"/>
          </a:xfrm>
          <a:prstGeom prst="rect">
            <a:avLst/>
          </a:prstGeom>
          <a:noFill/>
          <a:ln/>
        </p:spPr>
        <p:txBody>
          <a:bodyPr wrap="square" rtlCol="0" anchor="ctr"/>
          <a:lstStyle/>
          <a:p>
            <a:pPr algn="r" indent="0" marL="0">
              <a:buNone/>
            </a:pPr>
            <a:r>
              <a:rPr lang="en-US" sz="800" dirty="0">
                <a:solidFill>
                  <a:srgbClr val="8096AE"/>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p:spPr>
      </p:sp>
      <p:sp>
        <p:nvSpPr>
          <p:cNvPr id="3" name="Shape 1"/>
          <p:cNvSpPr/>
          <p:nvPr/>
        </p:nvSpPr>
        <p:spPr>
          <a:xfrm>
            <a:off x="0" y="0"/>
            <a:ext cx="164592" cy="1005840"/>
          </a:xfrm>
          <a:prstGeom prst="rect">
            <a:avLst/>
          </a:prstGeom>
          <a:solidFill>
            <a:srgbClr val="2563A8"/>
          </a:solidFill>
          <a:ln/>
        </p:spPr>
      </p:sp>
      <p:sp>
        <p:nvSpPr>
          <p:cNvPr id="4" name="Text 2"/>
          <p:cNvSpPr/>
          <p:nvPr/>
        </p:nvSpPr>
        <p:spPr>
          <a:xfrm>
            <a:off x="411480" y="164592"/>
            <a:ext cx="8229600" cy="228600"/>
          </a:xfrm>
          <a:prstGeom prst="rect">
            <a:avLst/>
          </a:prstGeom>
          <a:noFill/>
          <a:ln/>
        </p:spPr>
        <p:txBody>
          <a:bodyPr wrap="square" rtlCol="0" anchor="ctr"/>
          <a:lstStyle/>
          <a:p>
            <a:pPr indent="0" marL="0">
              <a:buNone/>
            </a:pPr>
            <a:r>
              <a:rPr lang="en-US" sz="800" b="1" spc="150" kern="0" dirty="0">
                <a:solidFill>
                  <a:srgbClr val="8096AE"/>
                </a:solidFill>
                <a:latin typeface="Calibri" pitchFamily="34" charset="0"/>
                <a:ea typeface="Calibri" pitchFamily="34" charset="-122"/>
                <a:cs typeface="Calibri" pitchFamily="34" charset="-120"/>
              </a:rPr>
              <a:t>AWS CLOUD SERVICES</a:t>
            </a:r>
            <a:endParaRPr lang="en-US" sz="800" dirty="0"/>
          </a:p>
        </p:txBody>
      </p:sp>
      <p:sp>
        <p:nvSpPr>
          <p:cNvPr id="5" name="Text 3"/>
          <p:cNvSpPr/>
          <p:nvPr/>
        </p:nvSpPr>
        <p:spPr>
          <a:xfrm>
            <a:off x="411480" y="402336"/>
            <a:ext cx="8229600" cy="42062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Eight Integrated Services</a:t>
            </a:r>
            <a:endParaRPr lang="en-US" sz="2200" dirty="0"/>
          </a:p>
        </p:txBody>
      </p:sp>
      <p:sp>
        <p:nvSpPr>
          <p:cNvPr id="6" name="Shape 4"/>
          <p:cNvSpPr/>
          <p:nvPr/>
        </p:nvSpPr>
        <p:spPr>
          <a:xfrm>
            <a:off x="384048" y="1115568"/>
            <a:ext cx="1965960" cy="171907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384048" y="1115568"/>
            <a:ext cx="1965960" cy="256032"/>
          </a:xfrm>
          <a:prstGeom prst="rect">
            <a:avLst/>
          </a:prstGeom>
          <a:solidFill>
            <a:srgbClr val="1A2E4A"/>
          </a:solidFill>
          <a:ln/>
        </p:spPr>
      </p:sp>
      <p:sp>
        <p:nvSpPr>
          <p:cNvPr id="8" name="Text 6"/>
          <p:cNvSpPr/>
          <p:nvPr/>
        </p:nvSpPr>
        <p:spPr>
          <a:xfrm>
            <a:off x="493776" y="1133856"/>
            <a:ext cx="1746504" cy="219456"/>
          </a:xfrm>
          <a:prstGeom prst="rect">
            <a:avLst/>
          </a:prstGeom>
          <a:noFill/>
          <a:ln/>
        </p:spPr>
        <p:txBody>
          <a:bodyPr wrap="square" rtlCol="0" anchor="ctr"/>
          <a:lstStyle/>
          <a:p>
            <a:pPr indent="0" marL="0">
              <a:buNone/>
            </a:pPr>
            <a:r>
              <a:rPr lang="en-US" sz="700" b="1" spc="100" kern="0" dirty="0">
                <a:solidFill>
                  <a:srgbClr val="8096AE"/>
                </a:solidFill>
                <a:latin typeface="Calibri" pitchFamily="34" charset="0"/>
                <a:ea typeface="Calibri" pitchFamily="34" charset="-122"/>
                <a:cs typeface="Calibri" pitchFamily="34" charset="-120"/>
              </a:rPr>
              <a:t>COMPUTE</a:t>
            </a:r>
            <a:endParaRPr lang="en-US" sz="700" dirty="0"/>
          </a:p>
        </p:txBody>
      </p:sp>
      <p:sp>
        <p:nvSpPr>
          <p:cNvPr id="9" name="Text 7"/>
          <p:cNvSpPr/>
          <p:nvPr/>
        </p:nvSpPr>
        <p:spPr>
          <a:xfrm>
            <a:off x="493776" y="1426464"/>
            <a:ext cx="1746504" cy="384048"/>
          </a:xfrm>
          <a:prstGeom prst="rect">
            <a:avLst/>
          </a:prstGeom>
          <a:noFill/>
          <a:ln/>
        </p:spPr>
        <p:txBody>
          <a:bodyPr wrap="square" rtlCol="0" anchor="ctr"/>
          <a:lstStyle/>
          <a:p>
            <a:pPr indent="0" marL="0">
              <a:buNone/>
            </a:pPr>
            <a:r>
              <a:rPr lang="en-US" sz="1800" b="1" dirty="0">
                <a:solidFill>
                  <a:srgbClr val="2563A8"/>
                </a:solidFill>
                <a:latin typeface="Calibri" pitchFamily="34" charset="0"/>
                <a:ea typeface="Calibri" pitchFamily="34" charset="-122"/>
                <a:cs typeface="Calibri" pitchFamily="34" charset="-120"/>
              </a:rPr>
              <a:t>EC2</a:t>
            </a:r>
            <a:endParaRPr lang="en-US" sz="1800" dirty="0"/>
          </a:p>
        </p:txBody>
      </p:sp>
      <p:sp>
        <p:nvSpPr>
          <p:cNvPr id="10" name="Text 8"/>
          <p:cNvSpPr/>
          <p:nvPr/>
        </p:nvSpPr>
        <p:spPr>
          <a:xfrm>
            <a:off x="493776" y="1810512"/>
            <a:ext cx="1746504" cy="256032"/>
          </a:xfrm>
          <a:prstGeom prst="rect">
            <a:avLst/>
          </a:prstGeom>
          <a:noFill/>
          <a:ln/>
        </p:spPr>
        <p:txBody>
          <a:bodyPr wrap="square" rtlCol="0" anchor="ctr"/>
          <a:lstStyle/>
          <a:p>
            <a:pPr indent="0" marL="0">
              <a:buNone/>
            </a:pPr>
            <a:r>
              <a:rPr lang="en-US" sz="950" b="1" dirty="0">
                <a:solidFill>
                  <a:srgbClr val="1A2E4A"/>
                </a:solidFill>
                <a:latin typeface="Calibri" pitchFamily="34" charset="0"/>
                <a:ea typeface="Calibri" pitchFamily="34" charset="-122"/>
                <a:cs typeface="Calibri" pitchFamily="34" charset="-120"/>
              </a:rPr>
              <a:t>Elastic Compute Cloud</a:t>
            </a:r>
            <a:endParaRPr lang="en-US" sz="950" dirty="0"/>
          </a:p>
        </p:txBody>
      </p:sp>
      <p:sp>
        <p:nvSpPr>
          <p:cNvPr id="11" name="Text 9"/>
          <p:cNvSpPr/>
          <p:nvPr/>
        </p:nvSpPr>
        <p:spPr>
          <a:xfrm>
            <a:off x="493776" y="2084832"/>
            <a:ext cx="1746504" cy="676656"/>
          </a:xfrm>
          <a:prstGeom prst="rect">
            <a:avLst/>
          </a:prstGeom>
          <a:noFill/>
          <a:ln/>
        </p:spPr>
        <p:txBody>
          <a:bodyPr wrap="square" rtlCol="0" anchor="ctr"/>
          <a:lstStyle/>
          <a:p>
            <a:pPr indent="0" marL="0">
              <a:lnSpc>
                <a:spcPct val="130000"/>
              </a:lnSpc>
              <a:buNone/>
            </a:pPr>
            <a:r>
              <a:rPr lang="en-US" sz="850" dirty="0">
                <a:solidFill>
                  <a:srgbClr val="4A5D72"/>
                </a:solidFill>
                <a:latin typeface="Calibri" pitchFamily="34" charset="0"/>
                <a:ea typeface="Calibri" pitchFamily="34" charset="-122"/>
                <a:cs typeface="Calibri" pitchFamily="34" charset="-120"/>
              </a:rPr>
              <a:t>Hosts the backend web application server with configurable instance types.</a:t>
            </a:r>
            <a:endParaRPr lang="en-US" sz="850" dirty="0"/>
          </a:p>
        </p:txBody>
      </p:sp>
      <p:sp>
        <p:nvSpPr>
          <p:cNvPr id="12" name="Shape 10"/>
          <p:cNvSpPr/>
          <p:nvPr/>
        </p:nvSpPr>
        <p:spPr>
          <a:xfrm>
            <a:off x="2505456" y="1115568"/>
            <a:ext cx="1965960" cy="171907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2505456" y="1115568"/>
            <a:ext cx="1965960" cy="256032"/>
          </a:xfrm>
          <a:prstGeom prst="rect">
            <a:avLst/>
          </a:prstGeom>
          <a:solidFill>
            <a:srgbClr val="1A2E4A"/>
          </a:solidFill>
          <a:ln/>
        </p:spPr>
      </p:sp>
      <p:sp>
        <p:nvSpPr>
          <p:cNvPr id="14" name="Text 12"/>
          <p:cNvSpPr/>
          <p:nvPr/>
        </p:nvSpPr>
        <p:spPr>
          <a:xfrm>
            <a:off x="2615184" y="1133856"/>
            <a:ext cx="1746504" cy="219456"/>
          </a:xfrm>
          <a:prstGeom prst="rect">
            <a:avLst/>
          </a:prstGeom>
          <a:noFill/>
          <a:ln/>
        </p:spPr>
        <p:txBody>
          <a:bodyPr wrap="square" rtlCol="0" anchor="ctr"/>
          <a:lstStyle/>
          <a:p>
            <a:pPr indent="0" marL="0">
              <a:buNone/>
            </a:pPr>
            <a:r>
              <a:rPr lang="en-US" sz="700" b="1" spc="100" kern="0" dirty="0">
                <a:solidFill>
                  <a:srgbClr val="8096AE"/>
                </a:solidFill>
                <a:latin typeface="Calibri" pitchFamily="34" charset="0"/>
                <a:ea typeface="Calibri" pitchFamily="34" charset="-122"/>
                <a:cs typeface="Calibri" pitchFamily="34" charset="-120"/>
              </a:rPr>
              <a:t>NETWORKING</a:t>
            </a:r>
            <a:endParaRPr lang="en-US" sz="700" dirty="0"/>
          </a:p>
        </p:txBody>
      </p:sp>
      <p:sp>
        <p:nvSpPr>
          <p:cNvPr id="15" name="Text 13"/>
          <p:cNvSpPr/>
          <p:nvPr/>
        </p:nvSpPr>
        <p:spPr>
          <a:xfrm>
            <a:off x="2615184" y="1426464"/>
            <a:ext cx="1746504" cy="384048"/>
          </a:xfrm>
          <a:prstGeom prst="rect">
            <a:avLst/>
          </a:prstGeom>
          <a:noFill/>
          <a:ln/>
        </p:spPr>
        <p:txBody>
          <a:bodyPr wrap="square" rtlCol="0" anchor="ctr"/>
          <a:lstStyle/>
          <a:p>
            <a:pPr indent="0" marL="0">
              <a:buNone/>
            </a:pPr>
            <a:r>
              <a:rPr lang="en-US" sz="1800" b="1" dirty="0">
                <a:solidFill>
                  <a:srgbClr val="2563A8"/>
                </a:solidFill>
                <a:latin typeface="Calibri" pitchFamily="34" charset="0"/>
                <a:ea typeface="Calibri" pitchFamily="34" charset="-122"/>
                <a:cs typeface="Calibri" pitchFamily="34" charset="-120"/>
              </a:rPr>
              <a:t>API GW</a:t>
            </a:r>
            <a:endParaRPr lang="en-US" sz="1800" dirty="0"/>
          </a:p>
        </p:txBody>
      </p:sp>
      <p:sp>
        <p:nvSpPr>
          <p:cNvPr id="16" name="Text 14"/>
          <p:cNvSpPr/>
          <p:nvPr/>
        </p:nvSpPr>
        <p:spPr>
          <a:xfrm>
            <a:off x="2615184" y="1810512"/>
            <a:ext cx="1746504" cy="256032"/>
          </a:xfrm>
          <a:prstGeom prst="rect">
            <a:avLst/>
          </a:prstGeom>
          <a:noFill/>
          <a:ln/>
        </p:spPr>
        <p:txBody>
          <a:bodyPr wrap="square" rtlCol="0" anchor="ctr"/>
          <a:lstStyle/>
          <a:p>
            <a:pPr indent="0" marL="0">
              <a:buNone/>
            </a:pPr>
            <a:r>
              <a:rPr lang="en-US" sz="950" b="1" dirty="0">
                <a:solidFill>
                  <a:srgbClr val="1A2E4A"/>
                </a:solidFill>
                <a:latin typeface="Calibri" pitchFamily="34" charset="0"/>
                <a:ea typeface="Calibri" pitchFamily="34" charset="-122"/>
                <a:cs typeface="Calibri" pitchFamily="34" charset="-120"/>
              </a:rPr>
              <a:t>API Gateway</a:t>
            </a:r>
            <a:endParaRPr lang="en-US" sz="950" dirty="0"/>
          </a:p>
        </p:txBody>
      </p:sp>
      <p:sp>
        <p:nvSpPr>
          <p:cNvPr id="17" name="Text 15"/>
          <p:cNvSpPr/>
          <p:nvPr/>
        </p:nvSpPr>
        <p:spPr>
          <a:xfrm>
            <a:off x="2615184" y="2084832"/>
            <a:ext cx="1746504" cy="676656"/>
          </a:xfrm>
          <a:prstGeom prst="rect">
            <a:avLst/>
          </a:prstGeom>
          <a:noFill/>
          <a:ln/>
        </p:spPr>
        <p:txBody>
          <a:bodyPr wrap="square" rtlCol="0" anchor="ctr"/>
          <a:lstStyle/>
          <a:p>
            <a:pPr indent="0" marL="0">
              <a:lnSpc>
                <a:spcPct val="130000"/>
              </a:lnSpc>
              <a:buNone/>
            </a:pPr>
            <a:r>
              <a:rPr lang="en-US" sz="850" dirty="0">
                <a:solidFill>
                  <a:srgbClr val="4A5D72"/>
                </a:solidFill>
                <a:latin typeface="Calibri" pitchFamily="34" charset="0"/>
                <a:ea typeface="Calibri" pitchFamily="34" charset="-122"/>
                <a:cs typeface="Calibri" pitchFamily="34" charset="-120"/>
              </a:rPr>
              <a:t>Provides secure REST API access, request throttling, and authentication.</a:t>
            </a:r>
            <a:endParaRPr lang="en-US" sz="850" dirty="0"/>
          </a:p>
        </p:txBody>
      </p:sp>
      <p:sp>
        <p:nvSpPr>
          <p:cNvPr id="18" name="Shape 16"/>
          <p:cNvSpPr/>
          <p:nvPr/>
        </p:nvSpPr>
        <p:spPr>
          <a:xfrm>
            <a:off x="4626864" y="1115568"/>
            <a:ext cx="1965960" cy="171907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19" name="Shape 17"/>
          <p:cNvSpPr/>
          <p:nvPr/>
        </p:nvSpPr>
        <p:spPr>
          <a:xfrm>
            <a:off x="4626864" y="1115568"/>
            <a:ext cx="1965960" cy="256032"/>
          </a:xfrm>
          <a:prstGeom prst="rect">
            <a:avLst/>
          </a:prstGeom>
          <a:solidFill>
            <a:srgbClr val="1A2E4A"/>
          </a:solidFill>
          <a:ln/>
        </p:spPr>
      </p:sp>
      <p:sp>
        <p:nvSpPr>
          <p:cNvPr id="20" name="Text 18"/>
          <p:cNvSpPr/>
          <p:nvPr/>
        </p:nvSpPr>
        <p:spPr>
          <a:xfrm>
            <a:off x="4736592" y="1133856"/>
            <a:ext cx="1746504" cy="219456"/>
          </a:xfrm>
          <a:prstGeom prst="rect">
            <a:avLst/>
          </a:prstGeom>
          <a:noFill/>
          <a:ln/>
        </p:spPr>
        <p:txBody>
          <a:bodyPr wrap="square" rtlCol="0" anchor="ctr"/>
          <a:lstStyle/>
          <a:p>
            <a:pPr indent="0" marL="0">
              <a:buNone/>
            </a:pPr>
            <a:r>
              <a:rPr lang="en-US" sz="700" b="1" spc="100" kern="0" dirty="0">
                <a:solidFill>
                  <a:srgbClr val="8096AE"/>
                </a:solidFill>
                <a:latin typeface="Calibri" pitchFamily="34" charset="0"/>
                <a:ea typeface="Calibri" pitchFamily="34" charset="-122"/>
                <a:cs typeface="Calibri" pitchFamily="34" charset="-120"/>
              </a:rPr>
              <a:t>SERVERLESS</a:t>
            </a:r>
            <a:endParaRPr lang="en-US" sz="700" dirty="0"/>
          </a:p>
        </p:txBody>
      </p:sp>
      <p:sp>
        <p:nvSpPr>
          <p:cNvPr id="21" name="Text 19"/>
          <p:cNvSpPr/>
          <p:nvPr/>
        </p:nvSpPr>
        <p:spPr>
          <a:xfrm>
            <a:off x="4736592" y="1426464"/>
            <a:ext cx="1746504" cy="384048"/>
          </a:xfrm>
          <a:prstGeom prst="rect">
            <a:avLst/>
          </a:prstGeom>
          <a:noFill/>
          <a:ln/>
        </p:spPr>
        <p:txBody>
          <a:bodyPr wrap="square" rtlCol="0" anchor="ctr"/>
          <a:lstStyle/>
          <a:p>
            <a:pPr indent="0" marL="0">
              <a:buNone/>
            </a:pPr>
            <a:r>
              <a:rPr lang="en-US" sz="1800" b="1" dirty="0">
                <a:solidFill>
                  <a:srgbClr val="2563A8"/>
                </a:solidFill>
                <a:latin typeface="Calibri" pitchFamily="34" charset="0"/>
                <a:ea typeface="Calibri" pitchFamily="34" charset="-122"/>
                <a:cs typeface="Calibri" pitchFamily="34" charset="-120"/>
              </a:rPr>
              <a:t>Lambda</a:t>
            </a:r>
            <a:endParaRPr lang="en-US" sz="1800" dirty="0"/>
          </a:p>
        </p:txBody>
      </p:sp>
      <p:sp>
        <p:nvSpPr>
          <p:cNvPr id="22" name="Text 20"/>
          <p:cNvSpPr/>
          <p:nvPr/>
        </p:nvSpPr>
        <p:spPr>
          <a:xfrm>
            <a:off x="4736592" y="1810512"/>
            <a:ext cx="1746504" cy="256032"/>
          </a:xfrm>
          <a:prstGeom prst="rect">
            <a:avLst/>
          </a:prstGeom>
          <a:noFill/>
          <a:ln/>
        </p:spPr>
        <p:txBody>
          <a:bodyPr wrap="square" rtlCol="0" anchor="ctr"/>
          <a:lstStyle/>
          <a:p>
            <a:pPr indent="0" marL="0">
              <a:buNone/>
            </a:pPr>
            <a:r>
              <a:rPr lang="en-US" sz="950" b="1" dirty="0">
                <a:solidFill>
                  <a:srgbClr val="1A2E4A"/>
                </a:solidFill>
                <a:latin typeface="Calibri" pitchFamily="34" charset="0"/>
                <a:ea typeface="Calibri" pitchFamily="34" charset="-122"/>
                <a:cs typeface="Calibri" pitchFamily="34" charset="-120"/>
              </a:rPr>
              <a:t>AWS Lambda</a:t>
            </a:r>
            <a:endParaRPr lang="en-US" sz="950" dirty="0"/>
          </a:p>
        </p:txBody>
      </p:sp>
      <p:sp>
        <p:nvSpPr>
          <p:cNvPr id="23" name="Text 21"/>
          <p:cNvSpPr/>
          <p:nvPr/>
        </p:nvSpPr>
        <p:spPr>
          <a:xfrm>
            <a:off x="4736592" y="2084832"/>
            <a:ext cx="1746504" cy="676656"/>
          </a:xfrm>
          <a:prstGeom prst="rect">
            <a:avLst/>
          </a:prstGeom>
          <a:noFill/>
          <a:ln/>
        </p:spPr>
        <p:txBody>
          <a:bodyPr wrap="square" rtlCol="0" anchor="ctr"/>
          <a:lstStyle/>
          <a:p>
            <a:pPr indent="0" marL="0">
              <a:lnSpc>
                <a:spcPct val="130000"/>
              </a:lnSpc>
              <a:buNone/>
            </a:pPr>
            <a:r>
              <a:rPr lang="en-US" sz="850" dirty="0">
                <a:solidFill>
                  <a:srgbClr val="4A5D72"/>
                </a:solidFill>
                <a:latin typeface="Calibri" pitchFamily="34" charset="0"/>
                <a:ea typeface="Calibri" pitchFamily="34" charset="-122"/>
                <a:cs typeface="Calibri" pitchFamily="34" charset="-120"/>
              </a:rPr>
              <a:t>Executes QR code generation and ticket validation logic without managing servers.</a:t>
            </a:r>
            <a:endParaRPr lang="en-US" sz="850" dirty="0"/>
          </a:p>
        </p:txBody>
      </p:sp>
      <p:sp>
        <p:nvSpPr>
          <p:cNvPr id="24" name="Shape 22"/>
          <p:cNvSpPr/>
          <p:nvPr/>
        </p:nvSpPr>
        <p:spPr>
          <a:xfrm>
            <a:off x="6748272" y="1115568"/>
            <a:ext cx="1965960" cy="171907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25" name="Shape 23"/>
          <p:cNvSpPr/>
          <p:nvPr/>
        </p:nvSpPr>
        <p:spPr>
          <a:xfrm>
            <a:off x="6748272" y="1115568"/>
            <a:ext cx="1965960" cy="256032"/>
          </a:xfrm>
          <a:prstGeom prst="rect">
            <a:avLst/>
          </a:prstGeom>
          <a:solidFill>
            <a:srgbClr val="1A2E4A"/>
          </a:solidFill>
          <a:ln/>
        </p:spPr>
      </p:sp>
      <p:sp>
        <p:nvSpPr>
          <p:cNvPr id="26" name="Text 24"/>
          <p:cNvSpPr/>
          <p:nvPr/>
        </p:nvSpPr>
        <p:spPr>
          <a:xfrm>
            <a:off x="6858000" y="1133856"/>
            <a:ext cx="1746504" cy="219456"/>
          </a:xfrm>
          <a:prstGeom prst="rect">
            <a:avLst/>
          </a:prstGeom>
          <a:noFill/>
          <a:ln/>
        </p:spPr>
        <p:txBody>
          <a:bodyPr wrap="square" rtlCol="0" anchor="ctr"/>
          <a:lstStyle/>
          <a:p>
            <a:pPr indent="0" marL="0">
              <a:buNone/>
            </a:pPr>
            <a:r>
              <a:rPr lang="en-US" sz="700" b="1" spc="100" kern="0" dirty="0">
                <a:solidFill>
                  <a:srgbClr val="8096AE"/>
                </a:solidFill>
                <a:latin typeface="Calibri" pitchFamily="34" charset="0"/>
                <a:ea typeface="Calibri" pitchFamily="34" charset="-122"/>
                <a:cs typeface="Calibri" pitchFamily="34" charset="-120"/>
              </a:rPr>
              <a:t>NETWORKING</a:t>
            </a:r>
            <a:endParaRPr lang="en-US" sz="700" dirty="0"/>
          </a:p>
        </p:txBody>
      </p:sp>
      <p:sp>
        <p:nvSpPr>
          <p:cNvPr id="27" name="Text 25"/>
          <p:cNvSpPr/>
          <p:nvPr/>
        </p:nvSpPr>
        <p:spPr>
          <a:xfrm>
            <a:off x="6858000" y="1426464"/>
            <a:ext cx="1746504" cy="384048"/>
          </a:xfrm>
          <a:prstGeom prst="rect">
            <a:avLst/>
          </a:prstGeom>
          <a:noFill/>
          <a:ln/>
        </p:spPr>
        <p:txBody>
          <a:bodyPr wrap="square" rtlCol="0" anchor="ctr"/>
          <a:lstStyle/>
          <a:p>
            <a:pPr indent="0" marL="0">
              <a:buNone/>
            </a:pPr>
            <a:r>
              <a:rPr lang="en-US" sz="1800" b="1" dirty="0">
                <a:solidFill>
                  <a:srgbClr val="2563A8"/>
                </a:solidFill>
                <a:latin typeface="Calibri" pitchFamily="34" charset="0"/>
                <a:ea typeface="Calibri" pitchFamily="34" charset="-122"/>
                <a:cs typeface="Calibri" pitchFamily="34" charset="-120"/>
              </a:rPr>
              <a:t>ALB</a:t>
            </a:r>
            <a:endParaRPr lang="en-US" sz="1800" dirty="0"/>
          </a:p>
        </p:txBody>
      </p:sp>
      <p:sp>
        <p:nvSpPr>
          <p:cNvPr id="28" name="Text 26"/>
          <p:cNvSpPr/>
          <p:nvPr/>
        </p:nvSpPr>
        <p:spPr>
          <a:xfrm>
            <a:off x="6858000" y="1810512"/>
            <a:ext cx="1746504" cy="256032"/>
          </a:xfrm>
          <a:prstGeom prst="rect">
            <a:avLst/>
          </a:prstGeom>
          <a:noFill/>
          <a:ln/>
        </p:spPr>
        <p:txBody>
          <a:bodyPr wrap="square" rtlCol="0" anchor="ctr"/>
          <a:lstStyle/>
          <a:p>
            <a:pPr indent="0" marL="0">
              <a:buNone/>
            </a:pPr>
            <a:r>
              <a:rPr lang="en-US" sz="950" b="1" dirty="0">
                <a:solidFill>
                  <a:srgbClr val="1A2E4A"/>
                </a:solidFill>
                <a:latin typeface="Calibri" pitchFamily="34" charset="0"/>
                <a:ea typeface="Calibri" pitchFamily="34" charset="-122"/>
                <a:cs typeface="Calibri" pitchFamily="34" charset="-120"/>
              </a:rPr>
              <a:t>Application Load Balancer</a:t>
            </a:r>
            <a:endParaRPr lang="en-US" sz="950" dirty="0"/>
          </a:p>
        </p:txBody>
      </p:sp>
      <p:sp>
        <p:nvSpPr>
          <p:cNvPr id="29" name="Text 27"/>
          <p:cNvSpPr/>
          <p:nvPr/>
        </p:nvSpPr>
        <p:spPr>
          <a:xfrm>
            <a:off x="6858000" y="2084832"/>
            <a:ext cx="1746504" cy="676656"/>
          </a:xfrm>
          <a:prstGeom prst="rect">
            <a:avLst/>
          </a:prstGeom>
          <a:noFill/>
          <a:ln/>
        </p:spPr>
        <p:txBody>
          <a:bodyPr wrap="square" rtlCol="0" anchor="ctr"/>
          <a:lstStyle/>
          <a:p>
            <a:pPr indent="0" marL="0">
              <a:lnSpc>
                <a:spcPct val="130000"/>
              </a:lnSpc>
              <a:buNone/>
            </a:pPr>
            <a:r>
              <a:rPr lang="en-US" sz="850" dirty="0">
                <a:solidFill>
                  <a:srgbClr val="4A5D72"/>
                </a:solidFill>
                <a:latin typeface="Calibri" pitchFamily="34" charset="0"/>
                <a:ea typeface="Calibri" pitchFamily="34" charset="-122"/>
                <a:cs typeface="Calibri" pitchFamily="34" charset="-120"/>
              </a:rPr>
              <a:t>Distributes incoming traffic across multiple EC2 instances for reliability.</a:t>
            </a:r>
            <a:endParaRPr lang="en-US" sz="850" dirty="0"/>
          </a:p>
        </p:txBody>
      </p:sp>
      <p:sp>
        <p:nvSpPr>
          <p:cNvPr id="30" name="Shape 28"/>
          <p:cNvSpPr/>
          <p:nvPr/>
        </p:nvSpPr>
        <p:spPr>
          <a:xfrm>
            <a:off x="384048" y="2990088"/>
            <a:ext cx="1965960" cy="171907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31" name="Shape 29"/>
          <p:cNvSpPr/>
          <p:nvPr/>
        </p:nvSpPr>
        <p:spPr>
          <a:xfrm>
            <a:off x="384048" y="2990088"/>
            <a:ext cx="1965960" cy="256032"/>
          </a:xfrm>
          <a:prstGeom prst="rect">
            <a:avLst/>
          </a:prstGeom>
          <a:solidFill>
            <a:srgbClr val="1A2E4A"/>
          </a:solidFill>
          <a:ln/>
        </p:spPr>
      </p:sp>
      <p:sp>
        <p:nvSpPr>
          <p:cNvPr id="32" name="Text 30"/>
          <p:cNvSpPr/>
          <p:nvPr/>
        </p:nvSpPr>
        <p:spPr>
          <a:xfrm>
            <a:off x="493776" y="3008376"/>
            <a:ext cx="1746504" cy="219456"/>
          </a:xfrm>
          <a:prstGeom prst="rect">
            <a:avLst/>
          </a:prstGeom>
          <a:noFill/>
          <a:ln/>
        </p:spPr>
        <p:txBody>
          <a:bodyPr wrap="square" rtlCol="0" anchor="ctr"/>
          <a:lstStyle/>
          <a:p>
            <a:pPr indent="0" marL="0">
              <a:buNone/>
            </a:pPr>
            <a:r>
              <a:rPr lang="en-US" sz="700" b="1" spc="100" kern="0" dirty="0">
                <a:solidFill>
                  <a:srgbClr val="8096AE"/>
                </a:solidFill>
                <a:latin typeface="Calibri" pitchFamily="34" charset="0"/>
                <a:ea typeface="Calibri" pitchFamily="34" charset="-122"/>
                <a:cs typeface="Calibri" pitchFamily="34" charset="-120"/>
              </a:rPr>
              <a:t>SCALING</a:t>
            </a:r>
            <a:endParaRPr lang="en-US" sz="700" dirty="0"/>
          </a:p>
        </p:txBody>
      </p:sp>
      <p:sp>
        <p:nvSpPr>
          <p:cNvPr id="33" name="Text 31"/>
          <p:cNvSpPr/>
          <p:nvPr/>
        </p:nvSpPr>
        <p:spPr>
          <a:xfrm>
            <a:off x="493776" y="3300984"/>
            <a:ext cx="1746504" cy="384048"/>
          </a:xfrm>
          <a:prstGeom prst="rect">
            <a:avLst/>
          </a:prstGeom>
          <a:noFill/>
          <a:ln/>
        </p:spPr>
        <p:txBody>
          <a:bodyPr wrap="square" rtlCol="0" anchor="ctr"/>
          <a:lstStyle/>
          <a:p>
            <a:pPr indent="0" marL="0">
              <a:buNone/>
            </a:pPr>
            <a:r>
              <a:rPr lang="en-US" sz="1800" b="1" dirty="0">
                <a:solidFill>
                  <a:srgbClr val="2563A8"/>
                </a:solidFill>
                <a:latin typeface="Calibri" pitchFamily="34" charset="0"/>
                <a:ea typeface="Calibri" pitchFamily="34" charset="-122"/>
                <a:cs typeface="Calibri" pitchFamily="34" charset="-120"/>
              </a:rPr>
              <a:t>ASG</a:t>
            </a:r>
            <a:endParaRPr lang="en-US" sz="1800" dirty="0"/>
          </a:p>
        </p:txBody>
      </p:sp>
      <p:sp>
        <p:nvSpPr>
          <p:cNvPr id="34" name="Text 32"/>
          <p:cNvSpPr/>
          <p:nvPr/>
        </p:nvSpPr>
        <p:spPr>
          <a:xfrm>
            <a:off x="493776" y="3685032"/>
            <a:ext cx="1746504" cy="256032"/>
          </a:xfrm>
          <a:prstGeom prst="rect">
            <a:avLst/>
          </a:prstGeom>
          <a:noFill/>
          <a:ln/>
        </p:spPr>
        <p:txBody>
          <a:bodyPr wrap="square" rtlCol="0" anchor="ctr"/>
          <a:lstStyle/>
          <a:p>
            <a:pPr indent="0" marL="0">
              <a:buNone/>
            </a:pPr>
            <a:r>
              <a:rPr lang="en-US" sz="950" b="1" dirty="0">
                <a:solidFill>
                  <a:srgbClr val="1A2E4A"/>
                </a:solidFill>
                <a:latin typeface="Calibri" pitchFamily="34" charset="0"/>
                <a:ea typeface="Calibri" pitchFamily="34" charset="-122"/>
                <a:cs typeface="Calibri" pitchFamily="34" charset="-120"/>
              </a:rPr>
              <a:t>Auto Scaling Group</a:t>
            </a:r>
            <a:endParaRPr lang="en-US" sz="950" dirty="0"/>
          </a:p>
        </p:txBody>
      </p:sp>
      <p:sp>
        <p:nvSpPr>
          <p:cNvPr id="35" name="Text 33"/>
          <p:cNvSpPr/>
          <p:nvPr/>
        </p:nvSpPr>
        <p:spPr>
          <a:xfrm>
            <a:off x="493776" y="3959352"/>
            <a:ext cx="1746504" cy="676656"/>
          </a:xfrm>
          <a:prstGeom prst="rect">
            <a:avLst/>
          </a:prstGeom>
          <a:noFill/>
          <a:ln/>
        </p:spPr>
        <p:txBody>
          <a:bodyPr wrap="square" rtlCol="0" anchor="ctr"/>
          <a:lstStyle/>
          <a:p>
            <a:pPr indent="0" marL="0">
              <a:lnSpc>
                <a:spcPct val="130000"/>
              </a:lnSpc>
              <a:buNone/>
            </a:pPr>
            <a:r>
              <a:rPr lang="en-US" sz="850" dirty="0">
                <a:solidFill>
                  <a:srgbClr val="4A5D72"/>
                </a:solidFill>
                <a:latin typeface="Calibri" pitchFamily="34" charset="0"/>
                <a:ea typeface="Calibri" pitchFamily="34" charset="-122"/>
                <a:cs typeface="Calibri" pitchFamily="34" charset="-120"/>
              </a:rPr>
              <a:t>Automatically adjusts the number of EC2 instances based on demand metrics.</a:t>
            </a:r>
            <a:endParaRPr lang="en-US" sz="850" dirty="0"/>
          </a:p>
        </p:txBody>
      </p:sp>
      <p:sp>
        <p:nvSpPr>
          <p:cNvPr id="36" name="Shape 34"/>
          <p:cNvSpPr/>
          <p:nvPr/>
        </p:nvSpPr>
        <p:spPr>
          <a:xfrm>
            <a:off x="2505456" y="2990088"/>
            <a:ext cx="1965960" cy="171907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37" name="Shape 35"/>
          <p:cNvSpPr/>
          <p:nvPr/>
        </p:nvSpPr>
        <p:spPr>
          <a:xfrm>
            <a:off x="2505456" y="2990088"/>
            <a:ext cx="1965960" cy="256032"/>
          </a:xfrm>
          <a:prstGeom prst="rect">
            <a:avLst/>
          </a:prstGeom>
          <a:solidFill>
            <a:srgbClr val="1A2E4A"/>
          </a:solidFill>
          <a:ln/>
        </p:spPr>
      </p:sp>
      <p:sp>
        <p:nvSpPr>
          <p:cNvPr id="38" name="Text 36"/>
          <p:cNvSpPr/>
          <p:nvPr/>
        </p:nvSpPr>
        <p:spPr>
          <a:xfrm>
            <a:off x="2615184" y="3008376"/>
            <a:ext cx="1746504" cy="219456"/>
          </a:xfrm>
          <a:prstGeom prst="rect">
            <a:avLst/>
          </a:prstGeom>
          <a:noFill/>
          <a:ln/>
        </p:spPr>
        <p:txBody>
          <a:bodyPr wrap="square" rtlCol="0" anchor="ctr"/>
          <a:lstStyle/>
          <a:p>
            <a:pPr indent="0" marL="0">
              <a:buNone/>
            </a:pPr>
            <a:r>
              <a:rPr lang="en-US" sz="700" b="1" spc="100" kern="0" dirty="0">
                <a:solidFill>
                  <a:srgbClr val="8096AE"/>
                </a:solidFill>
                <a:latin typeface="Calibri" pitchFamily="34" charset="0"/>
                <a:ea typeface="Calibri" pitchFamily="34" charset="-122"/>
                <a:cs typeface="Calibri" pitchFamily="34" charset="-120"/>
              </a:rPr>
              <a:t>DATABASE</a:t>
            </a:r>
            <a:endParaRPr lang="en-US" sz="700" dirty="0"/>
          </a:p>
        </p:txBody>
      </p:sp>
      <p:sp>
        <p:nvSpPr>
          <p:cNvPr id="39" name="Text 37"/>
          <p:cNvSpPr/>
          <p:nvPr/>
        </p:nvSpPr>
        <p:spPr>
          <a:xfrm>
            <a:off x="2615184" y="3300984"/>
            <a:ext cx="1746504" cy="384048"/>
          </a:xfrm>
          <a:prstGeom prst="rect">
            <a:avLst/>
          </a:prstGeom>
          <a:noFill/>
          <a:ln/>
        </p:spPr>
        <p:txBody>
          <a:bodyPr wrap="square" rtlCol="0" anchor="ctr"/>
          <a:lstStyle/>
          <a:p>
            <a:pPr indent="0" marL="0">
              <a:buNone/>
            </a:pPr>
            <a:r>
              <a:rPr lang="en-US" sz="1800" b="1" dirty="0">
                <a:solidFill>
                  <a:srgbClr val="2563A8"/>
                </a:solidFill>
                <a:latin typeface="Calibri" pitchFamily="34" charset="0"/>
                <a:ea typeface="Calibri" pitchFamily="34" charset="-122"/>
                <a:cs typeface="Calibri" pitchFamily="34" charset="-120"/>
              </a:rPr>
              <a:t>DynamoDB</a:t>
            </a:r>
            <a:endParaRPr lang="en-US" sz="1800" dirty="0"/>
          </a:p>
        </p:txBody>
      </p:sp>
      <p:sp>
        <p:nvSpPr>
          <p:cNvPr id="40" name="Text 38"/>
          <p:cNvSpPr/>
          <p:nvPr/>
        </p:nvSpPr>
        <p:spPr>
          <a:xfrm>
            <a:off x="2615184" y="3685032"/>
            <a:ext cx="1746504" cy="256032"/>
          </a:xfrm>
          <a:prstGeom prst="rect">
            <a:avLst/>
          </a:prstGeom>
          <a:noFill/>
          <a:ln/>
        </p:spPr>
        <p:txBody>
          <a:bodyPr wrap="square" rtlCol="0" anchor="ctr"/>
          <a:lstStyle/>
          <a:p>
            <a:pPr indent="0" marL="0">
              <a:buNone/>
            </a:pPr>
            <a:r>
              <a:rPr lang="en-US" sz="950" b="1" dirty="0">
                <a:solidFill>
                  <a:srgbClr val="1A2E4A"/>
                </a:solidFill>
                <a:latin typeface="Calibri" pitchFamily="34" charset="0"/>
                <a:ea typeface="Calibri" pitchFamily="34" charset="-122"/>
                <a:cs typeface="Calibri" pitchFamily="34" charset="-120"/>
              </a:rPr>
              <a:t>DynamoDB</a:t>
            </a:r>
            <a:endParaRPr lang="en-US" sz="950" dirty="0"/>
          </a:p>
        </p:txBody>
      </p:sp>
      <p:sp>
        <p:nvSpPr>
          <p:cNvPr id="41" name="Text 39"/>
          <p:cNvSpPr/>
          <p:nvPr/>
        </p:nvSpPr>
        <p:spPr>
          <a:xfrm>
            <a:off x="2615184" y="3959352"/>
            <a:ext cx="1746504" cy="676656"/>
          </a:xfrm>
          <a:prstGeom prst="rect">
            <a:avLst/>
          </a:prstGeom>
          <a:noFill/>
          <a:ln/>
        </p:spPr>
        <p:txBody>
          <a:bodyPr wrap="square" rtlCol="0" anchor="ctr"/>
          <a:lstStyle/>
          <a:p>
            <a:pPr indent="0" marL="0">
              <a:lnSpc>
                <a:spcPct val="130000"/>
              </a:lnSpc>
              <a:buNone/>
            </a:pPr>
            <a:r>
              <a:rPr lang="en-US" sz="850" dirty="0">
                <a:solidFill>
                  <a:srgbClr val="4A5D72"/>
                </a:solidFill>
                <a:latin typeface="Calibri" pitchFamily="34" charset="0"/>
                <a:ea typeface="Calibri" pitchFamily="34" charset="-122"/>
                <a:cs typeface="Calibri" pitchFamily="34" charset="-120"/>
              </a:rPr>
              <a:t>NoSQL data storage for events, registrations, and ticket records at any scale.</a:t>
            </a:r>
            <a:endParaRPr lang="en-US" sz="850" dirty="0"/>
          </a:p>
        </p:txBody>
      </p:sp>
      <p:sp>
        <p:nvSpPr>
          <p:cNvPr id="42" name="Shape 40"/>
          <p:cNvSpPr/>
          <p:nvPr/>
        </p:nvSpPr>
        <p:spPr>
          <a:xfrm>
            <a:off x="4626864" y="2990088"/>
            <a:ext cx="1965960" cy="171907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43" name="Shape 41"/>
          <p:cNvSpPr/>
          <p:nvPr/>
        </p:nvSpPr>
        <p:spPr>
          <a:xfrm>
            <a:off x="4626864" y="2990088"/>
            <a:ext cx="1965960" cy="256032"/>
          </a:xfrm>
          <a:prstGeom prst="rect">
            <a:avLst/>
          </a:prstGeom>
          <a:solidFill>
            <a:srgbClr val="1A2E4A"/>
          </a:solidFill>
          <a:ln/>
        </p:spPr>
      </p:sp>
      <p:sp>
        <p:nvSpPr>
          <p:cNvPr id="44" name="Text 42"/>
          <p:cNvSpPr/>
          <p:nvPr/>
        </p:nvSpPr>
        <p:spPr>
          <a:xfrm>
            <a:off x="4736592" y="3008376"/>
            <a:ext cx="1746504" cy="219456"/>
          </a:xfrm>
          <a:prstGeom prst="rect">
            <a:avLst/>
          </a:prstGeom>
          <a:noFill/>
          <a:ln/>
        </p:spPr>
        <p:txBody>
          <a:bodyPr wrap="square" rtlCol="0" anchor="ctr"/>
          <a:lstStyle/>
          <a:p>
            <a:pPr indent="0" marL="0">
              <a:buNone/>
            </a:pPr>
            <a:r>
              <a:rPr lang="en-US" sz="700" b="1" spc="100" kern="0" dirty="0">
                <a:solidFill>
                  <a:srgbClr val="8096AE"/>
                </a:solidFill>
                <a:latin typeface="Calibri" pitchFamily="34" charset="0"/>
                <a:ea typeface="Calibri" pitchFamily="34" charset="-122"/>
                <a:cs typeface="Calibri" pitchFamily="34" charset="-120"/>
              </a:rPr>
              <a:t>STORAGE</a:t>
            </a:r>
            <a:endParaRPr lang="en-US" sz="700" dirty="0"/>
          </a:p>
        </p:txBody>
      </p:sp>
      <p:sp>
        <p:nvSpPr>
          <p:cNvPr id="45" name="Text 43"/>
          <p:cNvSpPr/>
          <p:nvPr/>
        </p:nvSpPr>
        <p:spPr>
          <a:xfrm>
            <a:off x="4736592" y="3300984"/>
            <a:ext cx="1746504" cy="384048"/>
          </a:xfrm>
          <a:prstGeom prst="rect">
            <a:avLst/>
          </a:prstGeom>
          <a:noFill/>
          <a:ln/>
        </p:spPr>
        <p:txBody>
          <a:bodyPr wrap="square" rtlCol="0" anchor="ctr"/>
          <a:lstStyle/>
          <a:p>
            <a:pPr indent="0" marL="0">
              <a:buNone/>
            </a:pPr>
            <a:r>
              <a:rPr lang="en-US" sz="1800" b="1" dirty="0">
                <a:solidFill>
                  <a:srgbClr val="2563A8"/>
                </a:solidFill>
                <a:latin typeface="Calibri" pitchFamily="34" charset="0"/>
                <a:ea typeface="Calibri" pitchFamily="34" charset="-122"/>
                <a:cs typeface="Calibri" pitchFamily="34" charset="-120"/>
              </a:rPr>
              <a:t>S3</a:t>
            </a:r>
            <a:endParaRPr lang="en-US" sz="1800" dirty="0"/>
          </a:p>
        </p:txBody>
      </p:sp>
      <p:sp>
        <p:nvSpPr>
          <p:cNvPr id="46" name="Text 44"/>
          <p:cNvSpPr/>
          <p:nvPr/>
        </p:nvSpPr>
        <p:spPr>
          <a:xfrm>
            <a:off x="4736592" y="3685032"/>
            <a:ext cx="1746504" cy="256032"/>
          </a:xfrm>
          <a:prstGeom prst="rect">
            <a:avLst/>
          </a:prstGeom>
          <a:noFill/>
          <a:ln/>
        </p:spPr>
        <p:txBody>
          <a:bodyPr wrap="square" rtlCol="0" anchor="ctr"/>
          <a:lstStyle/>
          <a:p>
            <a:pPr indent="0" marL="0">
              <a:buNone/>
            </a:pPr>
            <a:r>
              <a:rPr lang="en-US" sz="950" b="1" dirty="0">
                <a:solidFill>
                  <a:srgbClr val="1A2E4A"/>
                </a:solidFill>
                <a:latin typeface="Calibri" pitchFamily="34" charset="0"/>
                <a:ea typeface="Calibri" pitchFamily="34" charset="-122"/>
                <a:cs typeface="Calibri" pitchFamily="34" charset="-120"/>
              </a:rPr>
              <a:t>Simple Storage Service</a:t>
            </a:r>
            <a:endParaRPr lang="en-US" sz="950" dirty="0"/>
          </a:p>
        </p:txBody>
      </p:sp>
      <p:sp>
        <p:nvSpPr>
          <p:cNvPr id="47" name="Text 45"/>
          <p:cNvSpPr/>
          <p:nvPr/>
        </p:nvSpPr>
        <p:spPr>
          <a:xfrm>
            <a:off x="4736592" y="3959352"/>
            <a:ext cx="1746504" cy="676656"/>
          </a:xfrm>
          <a:prstGeom prst="rect">
            <a:avLst/>
          </a:prstGeom>
          <a:noFill/>
          <a:ln/>
        </p:spPr>
        <p:txBody>
          <a:bodyPr wrap="square" rtlCol="0" anchor="ctr"/>
          <a:lstStyle/>
          <a:p>
            <a:pPr indent="0" marL="0">
              <a:lnSpc>
                <a:spcPct val="130000"/>
              </a:lnSpc>
              <a:buNone/>
            </a:pPr>
            <a:r>
              <a:rPr lang="en-US" sz="850" dirty="0">
                <a:solidFill>
                  <a:srgbClr val="4A5D72"/>
                </a:solidFill>
                <a:latin typeface="Calibri" pitchFamily="34" charset="0"/>
                <a:ea typeface="Calibri" pitchFamily="34" charset="-122"/>
                <a:cs typeface="Calibri" pitchFamily="34" charset="-120"/>
              </a:rPr>
              <a:t>Stores generated QR code images and serves static frontend assets.</a:t>
            </a:r>
            <a:endParaRPr lang="en-US" sz="850" dirty="0"/>
          </a:p>
        </p:txBody>
      </p:sp>
      <p:sp>
        <p:nvSpPr>
          <p:cNvPr id="48" name="Shape 46"/>
          <p:cNvSpPr/>
          <p:nvPr/>
        </p:nvSpPr>
        <p:spPr>
          <a:xfrm>
            <a:off x="6748272" y="2990088"/>
            <a:ext cx="1965960" cy="171907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49" name="Shape 47"/>
          <p:cNvSpPr/>
          <p:nvPr/>
        </p:nvSpPr>
        <p:spPr>
          <a:xfrm>
            <a:off x="6748272" y="2990088"/>
            <a:ext cx="1965960" cy="256032"/>
          </a:xfrm>
          <a:prstGeom prst="rect">
            <a:avLst/>
          </a:prstGeom>
          <a:solidFill>
            <a:srgbClr val="1A2E4A"/>
          </a:solidFill>
          <a:ln/>
        </p:spPr>
      </p:sp>
      <p:sp>
        <p:nvSpPr>
          <p:cNvPr id="50" name="Text 48"/>
          <p:cNvSpPr/>
          <p:nvPr/>
        </p:nvSpPr>
        <p:spPr>
          <a:xfrm>
            <a:off x="6858000" y="3008376"/>
            <a:ext cx="1746504" cy="219456"/>
          </a:xfrm>
          <a:prstGeom prst="rect">
            <a:avLst/>
          </a:prstGeom>
          <a:noFill/>
          <a:ln/>
        </p:spPr>
        <p:txBody>
          <a:bodyPr wrap="square" rtlCol="0" anchor="ctr"/>
          <a:lstStyle/>
          <a:p>
            <a:pPr indent="0" marL="0">
              <a:buNone/>
            </a:pPr>
            <a:r>
              <a:rPr lang="en-US" sz="700" b="1" spc="100" kern="0" dirty="0">
                <a:solidFill>
                  <a:srgbClr val="8096AE"/>
                </a:solidFill>
                <a:latin typeface="Calibri" pitchFamily="34" charset="0"/>
                <a:ea typeface="Calibri" pitchFamily="34" charset="-122"/>
                <a:cs typeface="Calibri" pitchFamily="34" charset="-120"/>
              </a:rPr>
              <a:t>CDN</a:t>
            </a:r>
            <a:endParaRPr lang="en-US" sz="700" dirty="0"/>
          </a:p>
        </p:txBody>
      </p:sp>
      <p:sp>
        <p:nvSpPr>
          <p:cNvPr id="51" name="Text 49"/>
          <p:cNvSpPr/>
          <p:nvPr/>
        </p:nvSpPr>
        <p:spPr>
          <a:xfrm>
            <a:off x="6858000" y="3300984"/>
            <a:ext cx="1746504" cy="384048"/>
          </a:xfrm>
          <a:prstGeom prst="rect">
            <a:avLst/>
          </a:prstGeom>
          <a:noFill/>
          <a:ln/>
        </p:spPr>
        <p:txBody>
          <a:bodyPr wrap="square" rtlCol="0" anchor="ctr"/>
          <a:lstStyle/>
          <a:p>
            <a:pPr indent="0" marL="0">
              <a:buNone/>
            </a:pPr>
            <a:r>
              <a:rPr lang="en-US" sz="1800" b="1" dirty="0">
                <a:solidFill>
                  <a:srgbClr val="2563A8"/>
                </a:solidFill>
                <a:latin typeface="Calibri" pitchFamily="34" charset="0"/>
                <a:ea typeface="Calibri" pitchFamily="34" charset="-122"/>
                <a:cs typeface="Calibri" pitchFamily="34" charset="-120"/>
              </a:rPr>
              <a:t>CloudFront</a:t>
            </a:r>
            <a:endParaRPr lang="en-US" sz="1800" dirty="0"/>
          </a:p>
        </p:txBody>
      </p:sp>
      <p:sp>
        <p:nvSpPr>
          <p:cNvPr id="52" name="Text 50"/>
          <p:cNvSpPr/>
          <p:nvPr/>
        </p:nvSpPr>
        <p:spPr>
          <a:xfrm>
            <a:off x="6858000" y="3685032"/>
            <a:ext cx="1746504" cy="256032"/>
          </a:xfrm>
          <a:prstGeom prst="rect">
            <a:avLst/>
          </a:prstGeom>
          <a:noFill/>
          <a:ln/>
        </p:spPr>
        <p:txBody>
          <a:bodyPr wrap="square" rtlCol="0" anchor="ctr"/>
          <a:lstStyle/>
          <a:p>
            <a:pPr indent="0" marL="0">
              <a:buNone/>
            </a:pPr>
            <a:r>
              <a:rPr lang="en-US" sz="950" b="1" dirty="0">
                <a:solidFill>
                  <a:srgbClr val="1A2E4A"/>
                </a:solidFill>
                <a:latin typeface="Calibri" pitchFamily="34" charset="0"/>
                <a:ea typeface="Calibri" pitchFamily="34" charset="-122"/>
                <a:cs typeface="Calibri" pitchFamily="34" charset="-120"/>
              </a:rPr>
              <a:t>CloudFront CDN</a:t>
            </a:r>
            <a:endParaRPr lang="en-US" sz="950" dirty="0"/>
          </a:p>
        </p:txBody>
      </p:sp>
      <p:sp>
        <p:nvSpPr>
          <p:cNvPr id="53" name="Text 51"/>
          <p:cNvSpPr/>
          <p:nvPr/>
        </p:nvSpPr>
        <p:spPr>
          <a:xfrm>
            <a:off x="6858000" y="3959352"/>
            <a:ext cx="1746504" cy="676656"/>
          </a:xfrm>
          <a:prstGeom prst="rect">
            <a:avLst/>
          </a:prstGeom>
          <a:noFill/>
          <a:ln/>
        </p:spPr>
        <p:txBody>
          <a:bodyPr wrap="square" rtlCol="0" anchor="ctr"/>
          <a:lstStyle/>
          <a:p>
            <a:pPr indent="0" marL="0">
              <a:lnSpc>
                <a:spcPct val="130000"/>
              </a:lnSpc>
              <a:buNone/>
            </a:pPr>
            <a:r>
              <a:rPr lang="en-US" sz="850" dirty="0">
                <a:solidFill>
                  <a:srgbClr val="4A5D72"/>
                </a:solidFill>
                <a:latin typeface="Calibri" pitchFamily="34" charset="0"/>
                <a:ea typeface="Calibri" pitchFamily="34" charset="-122"/>
                <a:cs typeface="Calibri" pitchFamily="34" charset="-120"/>
              </a:rPr>
              <a:t>Delivers content globally with low latency via edge locations worldwide.</a:t>
            </a:r>
            <a:endParaRPr lang="en-US" sz="850" dirty="0"/>
          </a:p>
        </p:txBody>
      </p:sp>
      <p:sp>
        <p:nvSpPr>
          <p:cNvPr id="54" name="Text 52"/>
          <p:cNvSpPr/>
          <p:nvPr/>
        </p:nvSpPr>
        <p:spPr>
          <a:xfrm>
            <a:off x="8732520" y="4846320"/>
            <a:ext cx="320040" cy="201168"/>
          </a:xfrm>
          <a:prstGeom prst="rect">
            <a:avLst/>
          </a:prstGeom>
          <a:noFill/>
          <a:ln/>
        </p:spPr>
        <p:txBody>
          <a:bodyPr wrap="square" rtlCol="0" anchor="ctr"/>
          <a:lstStyle/>
          <a:p>
            <a:pPr algn="r" indent="0" marL="0">
              <a:buNone/>
            </a:pPr>
            <a:r>
              <a:rPr lang="en-US" sz="800" dirty="0">
                <a:solidFill>
                  <a:srgbClr val="8096AE"/>
                </a:solidFill>
                <a:latin typeface="Calibri" pitchFamily="34" charset="0"/>
                <a:ea typeface="Calibri" pitchFamily="34" charset="-122"/>
                <a:cs typeface="Calibri"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563A8"/>
          </a:solidFill>
          <a:ln/>
        </p:spPr>
      </p:sp>
      <p:sp>
        <p:nvSpPr>
          <p:cNvPr id="3" name="Text 1"/>
          <p:cNvSpPr/>
          <p:nvPr/>
        </p:nvSpPr>
        <p:spPr>
          <a:xfrm>
            <a:off x="411480" y="274320"/>
            <a:ext cx="8229600" cy="237744"/>
          </a:xfrm>
          <a:prstGeom prst="rect">
            <a:avLst/>
          </a:prstGeom>
          <a:noFill/>
          <a:ln/>
        </p:spPr>
        <p:txBody>
          <a:bodyPr wrap="square" rtlCol="0" anchor="ctr"/>
          <a:lstStyle/>
          <a:p>
            <a:pPr indent="0" marL="0">
              <a:buNone/>
            </a:pPr>
            <a:r>
              <a:rPr lang="en-US" sz="800" b="1" spc="200" kern="0" dirty="0">
                <a:solidFill>
                  <a:srgbClr val="8096AE"/>
                </a:solidFill>
                <a:latin typeface="Calibri" pitchFamily="34" charset="0"/>
                <a:ea typeface="Calibri" pitchFamily="34" charset="-122"/>
                <a:cs typeface="Calibri" pitchFamily="34" charset="-120"/>
              </a:rPr>
              <a:t>FUNCTIONAL REQUIREMENTS</a:t>
            </a:r>
            <a:endParaRPr lang="en-US" sz="800" dirty="0"/>
          </a:p>
        </p:txBody>
      </p:sp>
      <p:sp>
        <p:nvSpPr>
          <p:cNvPr id="4" name="Text 2"/>
          <p:cNvSpPr/>
          <p:nvPr/>
        </p:nvSpPr>
        <p:spPr>
          <a:xfrm>
            <a:off x="411480" y="530352"/>
            <a:ext cx="8229600" cy="45720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System Capabilities</a:t>
            </a:r>
            <a:endParaRPr lang="en-US" sz="2400" dirty="0"/>
          </a:p>
        </p:txBody>
      </p:sp>
      <p:sp>
        <p:nvSpPr>
          <p:cNvPr id="5" name="Shape 3"/>
          <p:cNvSpPr/>
          <p:nvPr/>
        </p:nvSpPr>
        <p:spPr>
          <a:xfrm>
            <a:off x="411480" y="1133856"/>
            <a:ext cx="4160520" cy="329184"/>
          </a:xfrm>
          <a:prstGeom prst="rect">
            <a:avLst/>
          </a:prstGeom>
          <a:solidFill>
            <a:srgbClr val="2563A8"/>
          </a:solidFill>
          <a:ln/>
        </p:spPr>
      </p:sp>
      <p:sp>
        <p:nvSpPr>
          <p:cNvPr id="6" name="Text 4"/>
          <p:cNvSpPr/>
          <p:nvPr/>
        </p:nvSpPr>
        <p:spPr>
          <a:xfrm>
            <a:off x="557784" y="1133856"/>
            <a:ext cx="3931920" cy="329184"/>
          </a:xfrm>
          <a:prstGeom prst="rect">
            <a:avLst/>
          </a:prstGeom>
          <a:noFill/>
          <a:ln/>
        </p:spPr>
        <p:txBody>
          <a:bodyPr wrap="square"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ATTENDEE</a:t>
            </a:r>
            <a:endParaRPr lang="en-US" sz="1000" dirty="0"/>
          </a:p>
        </p:txBody>
      </p:sp>
      <p:sp>
        <p:nvSpPr>
          <p:cNvPr id="7" name="Shape 5"/>
          <p:cNvSpPr/>
          <p:nvPr/>
        </p:nvSpPr>
        <p:spPr>
          <a:xfrm>
            <a:off x="411480" y="1554480"/>
            <a:ext cx="4160520" cy="594360"/>
          </a:xfrm>
          <a:prstGeom prst="rect">
            <a:avLst/>
          </a:prstGeom>
          <a:solidFill>
            <a:srgbClr val="243D5C"/>
          </a:solidFill>
          <a:ln w="9525">
            <a:solidFill>
              <a:srgbClr val="2E4A66"/>
            </a:solidFill>
            <a:prstDash val="solid"/>
          </a:ln>
        </p:spPr>
      </p:sp>
      <p:sp>
        <p:nvSpPr>
          <p:cNvPr id="8" name="Shape 6"/>
          <p:cNvSpPr/>
          <p:nvPr/>
        </p:nvSpPr>
        <p:spPr>
          <a:xfrm>
            <a:off x="539496" y="1719072"/>
            <a:ext cx="384048" cy="256032"/>
          </a:xfrm>
          <a:prstGeom prst="rect">
            <a:avLst/>
          </a:prstGeom>
          <a:solidFill>
            <a:srgbClr val="2563A8"/>
          </a:solidFill>
          <a:ln/>
        </p:spPr>
      </p:sp>
      <p:sp>
        <p:nvSpPr>
          <p:cNvPr id="9" name="Text 7"/>
          <p:cNvSpPr/>
          <p:nvPr/>
        </p:nvSpPr>
        <p:spPr>
          <a:xfrm>
            <a:off x="539496" y="1719072"/>
            <a:ext cx="3840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FR1</a:t>
            </a:r>
            <a:endParaRPr lang="en-US" sz="800" dirty="0"/>
          </a:p>
        </p:txBody>
      </p:sp>
      <p:sp>
        <p:nvSpPr>
          <p:cNvPr id="10" name="Text 8"/>
          <p:cNvSpPr/>
          <p:nvPr/>
        </p:nvSpPr>
        <p:spPr>
          <a:xfrm>
            <a:off x="1033272" y="1664208"/>
            <a:ext cx="3401568" cy="384048"/>
          </a:xfrm>
          <a:prstGeom prst="rect">
            <a:avLst/>
          </a:prstGeom>
          <a:noFill/>
          <a:ln/>
        </p:spPr>
        <p:txBody>
          <a:bodyPr wrap="square" rtlCol="0" anchor="ctr"/>
          <a:lstStyle/>
          <a:p>
            <a:pPr indent="0" marL="0">
              <a:lnSpc>
                <a:spcPct val="120000"/>
              </a:lnSpc>
              <a:buNone/>
            </a:pPr>
            <a:r>
              <a:rPr lang="en-US" sz="1000" dirty="0">
                <a:solidFill>
                  <a:srgbClr val="C8D8E8"/>
                </a:solidFill>
                <a:latin typeface="Calibri" pitchFamily="34" charset="0"/>
                <a:ea typeface="Calibri" pitchFamily="34" charset="-122"/>
                <a:cs typeface="Calibri" pitchFamily="34" charset="-120"/>
              </a:rPr>
              <a:t>Register and authenticate securely with unique credentials</a:t>
            </a:r>
            <a:endParaRPr lang="en-US" sz="1000" dirty="0"/>
          </a:p>
        </p:txBody>
      </p:sp>
      <p:sp>
        <p:nvSpPr>
          <p:cNvPr id="11" name="Shape 9"/>
          <p:cNvSpPr/>
          <p:nvPr/>
        </p:nvSpPr>
        <p:spPr>
          <a:xfrm>
            <a:off x="411480" y="2231136"/>
            <a:ext cx="4160520" cy="594360"/>
          </a:xfrm>
          <a:prstGeom prst="rect">
            <a:avLst/>
          </a:prstGeom>
          <a:solidFill>
            <a:srgbClr val="243D5C"/>
          </a:solidFill>
          <a:ln w="9525">
            <a:solidFill>
              <a:srgbClr val="2E4A66"/>
            </a:solidFill>
            <a:prstDash val="solid"/>
          </a:ln>
        </p:spPr>
      </p:sp>
      <p:sp>
        <p:nvSpPr>
          <p:cNvPr id="12" name="Shape 10"/>
          <p:cNvSpPr/>
          <p:nvPr/>
        </p:nvSpPr>
        <p:spPr>
          <a:xfrm>
            <a:off x="539496" y="2395728"/>
            <a:ext cx="384048" cy="256032"/>
          </a:xfrm>
          <a:prstGeom prst="rect">
            <a:avLst/>
          </a:prstGeom>
          <a:solidFill>
            <a:srgbClr val="2563A8"/>
          </a:solidFill>
          <a:ln/>
        </p:spPr>
      </p:sp>
      <p:sp>
        <p:nvSpPr>
          <p:cNvPr id="13" name="Text 11"/>
          <p:cNvSpPr/>
          <p:nvPr/>
        </p:nvSpPr>
        <p:spPr>
          <a:xfrm>
            <a:off x="539496" y="2395728"/>
            <a:ext cx="3840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FR2</a:t>
            </a:r>
            <a:endParaRPr lang="en-US" sz="800" dirty="0"/>
          </a:p>
        </p:txBody>
      </p:sp>
      <p:sp>
        <p:nvSpPr>
          <p:cNvPr id="14" name="Text 12"/>
          <p:cNvSpPr/>
          <p:nvPr/>
        </p:nvSpPr>
        <p:spPr>
          <a:xfrm>
            <a:off x="1033272" y="2340864"/>
            <a:ext cx="3401568" cy="384048"/>
          </a:xfrm>
          <a:prstGeom prst="rect">
            <a:avLst/>
          </a:prstGeom>
          <a:noFill/>
          <a:ln/>
        </p:spPr>
        <p:txBody>
          <a:bodyPr wrap="square" rtlCol="0" anchor="ctr"/>
          <a:lstStyle/>
          <a:p>
            <a:pPr indent="0" marL="0">
              <a:lnSpc>
                <a:spcPct val="120000"/>
              </a:lnSpc>
              <a:buNone/>
            </a:pPr>
            <a:r>
              <a:rPr lang="en-US" sz="1000" dirty="0">
                <a:solidFill>
                  <a:srgbClr val="C8D8E8"/>
                </a:solidFill>
                <a:latin typeface="Calibri" pitchFamily="34" charset="0"/>
                <a:ea typeface="Calibri" pitchFamily="34" charset="-122"/>
                <a:cs typeface="Calibri" pitchFamily="34" charset="-120"/>
              </a:rPr>
              <a:t>Browse and view all upcoming available events</a:t>
            </a:r>
            <a:endParaRPr lang="en-US" sz="1000" dirty="0"/>
          </a:p>
        </p:txBody>
      </p:sp>
      <p:sp>
        <p:nvSpPr>
          <p:cNvPr id="15" name="Shape 13"/>
          <p:cNvSpPr/>
          <p:nvPr/>
        </p:nvSpPr>
        <p:spPr>
          <a:xfrm>
            <a:off x="411480" y="2907792"/>
            <a:ext cx="4160520" cy="594360"/>
          </a:xfrm>
          <a:prstGeom prst="rect">
            <a:avLst/>
          </a:prstGeom>
          <a:solidFill>
            <a:srgbClr val="243D5C"/>
          </a:solidFill>
          <a:ln w="9525">
            <a:solidFill>
              <a:srgbClr val="2E4A66"/>
            </a:solidFill>
            <a:prstDash val="solid"/>
          </a:ln>
        </p:spPr>
      </p:sp>
      <p:sp>
        <p:nvSpPr>
          <p:cNvPr id="16" name="Shape 14"/>
          <p:cNvSpPr/>
          <p:nvPr/>
        </p:nvSpPr>
        <p:spPr>
          <a:xfrm>
            <a:off x="539496" y="3072384"/>
            <a:ext cx="384048" cy="256032"/>
          </a:xfrm>
          <a:prstGeom prst="rect">
            <a:avLst/>
          </a:prstGeom>
          <a:solidFill>
            <a:srgbClr val="2563A8"/>
          </a:solidFill>
          <a:ln/>
        </p:spPr>
      </p:sp>
      <p:sp>
        <p:nvSpPr>
          <p:cNvPr id="17" name="Text 15"/>
          <p:cNvSpPr/>
          <p:nvPr/>
        </p:nvSpPr>
        <p:spPr>
          <a:xfrm>
            <a:off x="539496" y="3072384"/>
            <a:ext cx="3840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FR3</a:t>
            </a:r>
            <a:endParaRPr lang="en-US" sz="800" dirty="0"/>
          </a:p>
        </p:txBody>
      </p:sp>
      <p:sp>
        <p:nvSpPr>
          <p:cNvPr id="18" name="Text 16"/>
          <p:cNvSpPr/>
          <p:nvPr/>
        </p:nvSpPr>
        <p:spPr>
          <a:xfrm>
            <a:off x="1033272" y="3017520"/>
            <a:ext cx="3401568" cy="384048"/>
          </a:xfrm>
          <a:prstGeom prst="rect">
            <a:avLst/>
          </a:prstGeom>
          <a:noFill/>
          <a:ln/>
        </p:spPr>
        <p:txBody>
          <a:bodyPr wrap="square" rtlCol="0" anchor="ctr"/>
          <a:lstStyle/>
          <a:p>
            <a:pPr indent="0" marL="0">
              <a:lnSpc>
                <a:spcPct val="120000"/>
              </a:lnSpc>
              <a:buNone/>
            </a:pPr>
            <a:r>
              <a:rPr lang="en-US" sz="1000" dirty="0">
                <a:solidFill>
                  <a:srgbClr val="C8D8E8"/>
                </a:solidFill>
                <a:latin typeface="Calibri" pitchFamily="34" charset="0"/>
                <a:ea typeface="Calibri" pitchFamily="34" charset="-122"/>
                <a:cs typeface="Calibri" pitchFamily="34" charset="-120"/>
              </a:rPr>
              <a:t>Register for any event with confirmation and receipt</a:t>
            </a:r>
            <a:endParaRPr lang="en-US" sz="1000" dirty="0"/>
          </a:p>
        </p:txBody>
      </p:sp>
      <p:sp>
        <p:nvSpPr>
          <p:cNvPr id="19" name="Shape 17"/>
          <p:cNvSpPr/>
          <p:nvPr/>
        </p:nvSpPr>
        <p:spPr>
          <a:xfrm>
            <a:off x="411480" y="3584448"/>
            <a:ext cx="4160520" cy="594360"/>
          </a:xfrm>
          <a:prstGeom prst="rect">
            <a:avLst/>
          </a:prstGeom>
          <a:solidFill>
            <a:srgbClr val="243D5C"/>
          </a:solidFill>
          <a:ln w="9525">
            <a:solidFill>
              <a:srgbClr val="2E4A66"/>
            </a:solidFill>
            <a:prstDash val="solid"/>
          </a:ln>
        </p:spPr>
      </p:sp>
      <p:sp>
        <p:nvSpPr>
          <p:cNvPr id="20" name="Shape 18"/>
          <p:cNvSpPr/>
          <p:nvPr/>
        </p:nvSpPr>
        <p:spPr>
          <a:xfrm>
            <a:off x="539496" y="3749040"/>
            <a:ext cx="384048" cy="256032"/>
          </a:xfrm>
          <a:prstGeom prst="rect">
            <a:avLst/>
          </a:prstGeom>
          <a:solidFill>
            <a:srgbClr val="2563A8"/>
          </a:solidFill>
          <a:ln/>
        </p:spPr>
      </p:sp>
      <p:sp>
        <p:nvSpPr>
          <p:cNvPr id="21" name="Text 19"/>
          <p:cNvSpPr/>
          <p:nvPr/>
        </p:nvSpPr>
        <p:spPr>
          <a:xfrm>
            <a:off x="539496" y="3749040"/>
            <a:ext cx="3840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FR4</a:t>
            </a:r>
            <a:endParaRPr lang="en-US" sz="800" dirty="0"/>
          </a:p>
        </p:txBody>
      </p:sp>
      <p:sp>
        <p:nvSpPr>
          <p:cNvPr id="22" name="Text 20"/>
          <p:cNvSpPr/>
          <p:nvPr/>
        </p:nvSpPr>
        <p:spPr>
          <a:xfrm>
            <a:off x="1033272" y="3694176"/>
            <a:ext cx="3401568" cy="384048"/>
          </a:xfrm>
          <a:prstGeom prst="rect">
            <a:avLst/>
          </a:prstGeom>
          <a:noFill/>
          <a:ln/>
        </p:spPr>
        <p:txBody>
          <a:bodyPr wrap="square" rtlCol="0" anchor="ctr"/>
          <a:lstStyle/>
          <a:p>
            <a:pPr indent="0" marL="0">
              <a:lnSpc>
                <a:spcPct val="120000"/>
              </a:lnSpc>
              <a:buNone/>
            </a:pPr>
            <a:r>
              <a:rPr lang="en-US" sz="1000" dirty="0">
                <a:solidFill>
                  <a:srgbClr val="C8D8E8"/>
                </a:solidFill>
                <a:latin typeface="Calibri" pitchFamily="34" charset="0"/>
                <a:ea typeface="Calibri" pitchFamily="34" charset="-122"/>
                <a:cs typeface="Calibri" pitchFamily="34" charset="-120"/>
              </a:rPr>
              <a:t>Receive a unique, scannable QR code ticket via email</a:t>
            </a:r>
            <a:endParaRPr lang="en-US" sz="1000" dirty="0"/>
          </a:p>
        </p:txBody>
      </p:sp>
      <p:sp>
        <p:nvSpPr>
          <p:cNvPr id="23" name="Shape 21"/>
          <p:cNvSpPr/>
          <p:nvPr/>
        </p:nvSpPr>
        <p:spPr>
          <a:xfrm>
            <a:off x="411480" y="4261104"/>
            <a:ext cx="4160520" cy="594360"/>
          </a:xfrm>
          <a:prstGeom prst="rect">
            <a:avLst/>
          </a:prstGeom>
          <a:solidFill>
            <a:srgbClr val="243D5C"/>
          </a:solidFill>
          <a:ln w="9525">
            <a:solidFill>
              <a:srgbClr val="2E4A66"/>
            </a:solidFill>
            <a:prstDash val="solid"/>
          </a:ln>
        </p:spPr>
      </p:sp>
      <p:sp>
        <p:nvSpPr>
          <p:cNvPr id="24" name="Shape 22"/>
          <p:cNvSpPr/>
          <p:nvPr/>
        </p:nvSpPr>
        <p:spPr>
          <a:xfrm>
            <a:off x="539496" y="4425696"/>
            <a:ext cx="384048" cy="256032"/>
          </a:xfrm>
          <a:prstGeom prst="rect">
            <a:avLst/>
          </a:prstGeom>
          <a:solidFill>
            <a:srgbClr val="2563A8"/>
          </a:solidFill>
          <a:ln/>
        </p:spPr>
      </p:sp>
      <p:sp>
        <p:nvSpPr>
          <p:cNvPr id="25" name="Text 23"/>
          <p:cNvSpPr/>
          <p:nvPr/>
        </p:nvSpPr>
        <p:spPr>
          <a:xfrm>
            <a:off x="539496" y="4425696"/>
            <a:ext cx="3840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FR5</a:t>
            </a:r>
            <a:endParaRPr lang="en-US" sz="800" dirty="0"/>
          </a:p>
        </p:txBody>
      </p:sp>
      <p:sp>
        <p:nvSpPr>
          <p:cNvPr id="26" name="Text 24"/>
          <p:cNvSpPr/>
          <p:nvPr/>
        </p:nvSpPr>
        <p:spPr>
          <a:xfrm>
            <a:off x="1033272" y="4370832"/>
            <a:ext cx="3401568" cy="384048"/>
          </a:xfrm>
          <a:prstGeom prst="rect">
            <a:avLst/>
          </a:prstGeom>
          <a:noFill/>
          <a:ln/>
        </p:spPr>
        <p:txBody>
          <a:bodyPr wrap="square" rtlCol="0" anchor="ctr"/>
          <a:lstStyle/>
          <a:p>
            <a:pPr indent="0" marL="0">
              <a:lnSpc>
                <a:spcPct val="120000"/>
              </a:lnSpc>
              <a:buNone/>
            </a:pPr>
            <a:r>
              <a:rPr lang="en-US" sz="1000" dirty="0">
                <a:solidFill>
                  <a:srgbClr val="C8D8E8"/>
                </a:solidFill>
                <a:latin typeface="Calibri" pitchFamily="34" charset="0"/>
                <a:ea typeface="Calibri" pitchFamily="34" charset="-122"/>
                <a:cs typeface="Calibri" pitchFamily="34" charset="-120"/>
              </a:rPr>
              <a:t>Present QR code for instant entry validation</a:t>
            </a:r>
            <a:endParaRPr lang="en-US" sz="1000" dirty="0"/>
          </a:p>
        </p:txBody>
      </p:sp>
      <p:sp>
        <p:nvSpPr>
          <p:cNvPr id="27" name="Shape 25"/>
          <p:cNvSpPr/>
          <p:nvPr/>
        </p:nvSpPr>
        <p:spPr>
          <a:xfrm>
            <a:off x="4818888" y="1133856"/>
            <a:ext cx="4160520" cy="329184"/>
          </a:xfrm>
          <a:prstGeom prst="rect">
            <a:avLst/>
          </a:prstGeom>
          <a:solidFill>
            <a:srgbClr val="2563A8"/>
          </a:solidFill>
          <a:ln/>
        </p:spPr>
      </p:sp>
      <p:sp>
        <p:nvSpPr>
          <p:cNvPr id="28" name="Text 26"/>
          <p:cNvSpPr/>
          <p:nvPr/>
        </p:nvSpPr>
        <p:spPr>
          <a:xfrm>
            <a:off x="4965192" y="1133856"/>
            <a:ext cx="3931920" cy="329184"/>
          </a:xfrm>
          <a:prstGeom prst="rect">
            <a:avLst/>
          </a:prstGeom>
          <a:noFill/>
          <a:ln/>
        </p:spPr>
        <p:txBody>
          <a:bodyPr wrap="square"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ADMINISTRATOR</a:t>
            </a:r>
            <a:endParaRPr lang="en-US" sz="1000" dirty="0"/>
          </a:p>
        </p:txBody>
      </p:sp>
      <p:sp>
        <p:nvSpPr>
          <p:cNvPr id="29" name="Shape 27"/>
          <p:cNvSpPr/>
          <p:nvPr/>
        </p:nvSpPr>
        <p:spPr>
          <a:xfrm>
            <a:off x="4818888" y="1554480"/>
            <a:ext cx="4160520" cy="594360"/>
          </a:xfrm>
          <a:prstGeom prst="rect">
            <a:avLst/>
          </a:prstGeom>
          <a:solidFill>
            <a:srgbClr val="243D5C"/>
          </a:solidFill>
          <a:ln w="9525">
            <a:solidFill>
              <a:srgbClr val="2E4A66"/>
            </a:solidFill>
            <a:prstDash val="solid"/>
          </a:ln>
        </p:spPr>
      </p:sp>
      <p:sp>
        <p:nvSpPr>
          <p:cNvPr id="30" name="Shape 28"/>
          <p:cNvSpPr/>
          <p:nvPr/>
        </p:nvSpPr>
        <p:spPr>
          <a:xfrm>
            <a:off x="4946904" y="1719072"/>
            <a:ext cx="384048" cy="256032"/>
          </a:xfrm>
          <a:prstGeom prst="rect">
            <a:avLst/>
          </a:prstGeom>
          <a:solidFill>
            <a:srgbClr val="2563A8"/>
          </a:solidFill>
          <a:ln/>
        </p:spPr>
      </p:sp>
      <p:sp>
        <p:nvSpPr>
          <p:cNvPr id="31" name="Text 29"/>
          <p:cNvSpPr/>
          <p:nvPr/>
        </p:nvSpPr>
        <p:spPr>
          <a:xfrm>
            <a:off x="4946904" y="1719072"/>
            <a:ext cx="3840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FR6</a:t>
            </a:r>
            <a:endParaRPr lang="en-US" sz="800" dirty="0"/>
          </a:p>
        </p:txBody>
      </p:sp>
      <p:sp>
        <p:nvSpPr>
          <p:cNvPr id="32" name="Text 30"/>
          <p:cNvSpPr/>
          <p:nvPr/>
        </p:nvSpPr>
        <p:spPr>
          <a:xfrm>
            <a:off x="5440680" y="1664208"/>
            <a:ext cx="3401568" cy="384048"/>
          </a:xfrm>
          <a:prstGeom prst="rect">
            <a:avLst/>
          </a:prstGeom>
          <a:noFill/>
          <a:ln/>
        </p:spPr>
        <p:txBody>
          <a:bodyPr wrap="square" rtlCol="0" anchor="ctr"/>
          <a:lstStyle/>
          <a:p>
            <a:pPr indent="0" marL="0">
              <a:lnSpc>
                <a:spcPct val="120000"/>
              </a:lnSpc>
              <a:buNone/>
            </a:pPr>
            <a:r>
              <a:rPr lang="en-US" sz="1000" dirty="0">
                <a:solidFill>
                  <a:srgbClr val="C8D8E8"/>
                </a:solidFill>
                <a:latin typeface="Calibri" pitchFamily="34" charset="0"/>
                <a:ea typeface="Calibri" pitchFamily="34" charset="-122"/>
                <a:cs typeface="Calibri" pitchFamily="34" charset="-120"/>
              </a:rPr>
              <a:t>Create, update, publish, and delete event records</a:t>
            </a:r>
            <a:endParaRPr lang="en-US" sz="1000" dirty="0"/>
          </a:p>
        </p:txBody>
      </p:sp>
      <p:sp>
        <p:nvSpPr>
          <p:cNvPr id="33" name="Shape 31"/>
          <p:cNvSpPr/>
          <p:nvPr/>
        </p:nvSpPr>
        <p:spPr>
          <a:xfrm>
            <a:off x="4818888" y="2231136"/>
            <a:ext cx="4160520" cy="594360"/>
          </a:xfrm>
          <a:prstGeom prst="rect">
            <a:avLst/>
          </a:prstGeom>
          <a:solidFill>
            <a:srgbClr val="243D5C"/>
          </a:solidFill>
          <a:ln w="9525">
            <a:solidFill>
              <a:srgbClr val="2E4A66"/>
            </a:solidFill>
            <a:prstDash val="solid"/>
          </a:ln>
        </p:spPr>
      </p:sp>
      <p:sp>
        <p:nvSpPr>
          <p:cNvPr id="34" name="Shape 32"/>
          <p:cNvSpPr/>
          <p:nvPr/>
        </p:nvSpPr>
        <p:spPr>
          <a:xfrm>
            <a:off x="4946904" y="2395728"/>
            <a:ext cx="384048" cy="256032"/>
          </a:xfrm>
          <a:prstGeom prst="rect">
            <a:avLst/>
          </a:prstGeom>
          <a:solidFill>
            <a:srgbClr val="2563A8"/>
          </a:solidFill>
          <a:ln/>
        </p:spPr>
      </p:sp>
      <p:sp>
        <p:nvSpPr>
          <p:cNvPr id="35" name="Text 33"/>
          <p:cNvSpPr/>
          <p:nvPr/>
        </p:nvSpPr>
        <p:spPr>
          <a:xfrm>
            <a:off x="4946904" y="2395728"/>
            <a:ext cx="3840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FR7</a:t>
            </a:r>
            <a:endParaRPr lang="en-US" sz="800" dirty="0"/>
          </a:p>
        </p:txBody>
      </p:sp>
      <p:sp>
        <p:nvSpPr>
          <p:cNvPr id="36" name="Text 34"/>
          <p:cNvSpPr/>
          <p:nvPr/>
        </p:nvSpPr>
        <p:spPr>
          <a:xfrm>
            <a:off x="5440680" y="2340864"/>
            <a:ext cx="3401568" cy="384048"/>
          </a:xfrm>
          <a:prstGeom prst="rect">
            <a:avLst/>
          </a:prstGeom>
          <a:noFill/>
          <a:ln/>
        </p:spPr>
        <p:txBody>
          <a:bodyPr wrap="square" rtlCol="0" anchor="ctr"/>
          <a:lstStyle/>
          <a:p>
            <a:pPr indent="0" marL="0">
              <a:lnSpc>
                <a:spcPct val="120000"/>
              </a:lnSpc>
              <a:buNone/>
            </a:pPr>
            <a:r>
              <a:rPr lang="en-US" sz="1000" dirty="0">
                <a:solidFill>
                  <a:srgbClr val="C8D8E8"/>
                </a:solidFill>
                <a:latin typeface="Calibri" pitchFamily="34" charset="0"/>
                <a:ea typeface="Calibri" pitchFamily="34" charset="-122"/>
                <a:cs typeface="Calibri" pitchFamily="34" charset="-120"/>
              </a:rPr>
              <a:t>Monitor real-time attendance as tickets are scanned</a:t>
            </a:r>
            <a:endParaRPr lang="en-US" sz="1000" dirty="0"/>
          </a:p>
        </p:txBody>
      </p:sp>
      <p:sp>
        <p:nvSpPr>
          <p:cNvPr id="37" name="Shape 35"/>
          <p:cNvSpPr/>
          <p:nvPr/>
        </p:nvSpPr>
        <p:spPr>
          <a:xfrm>
            <a:off x="4818888" y="2907792"/>
            <a:ext cx="4160520" cy="594360"/>
          </a:xfrm>
          <a:prstGeom prst="rect">
            <a:avLst/>
          </a:prstGeom>
          <a:solidFill>
            <a:srgbClr val="243D5C"/>
          </a:solidFill>
          <a:ln w="9525">
            <a:solidFill>
              <a:srgbClr val="2E4A66"/>
            </a:solidFill>
            <a:prstDash val="solid"/>
          </a:ln>
        </p:spPr>
      </p:sp>
      <p:sp>
        <p:nvSpPr>
          <p:cNvPr id="38" name="Shape 36"/>
          <p:cNvSpPr/>
          <p:nvPr/>
        </p:nvSpPr>
        <p:spPr>
          <a:xfrm>
            <a:off x="4946904" y="3072384"/>
            <a:ext cx="384048" cy="256032"/>
          </a:xfrm>
          <a:prstGeom prst="rect">
            <a:avLst/>
          </a:prstGeom>
          <a:solidFill>
            <a:srgbClr val="2563A8"/>
          </a:solidFill>
          <a:ln/>
        </p:spPr>
      </p:sp>
      <p:sp>
        <p:nvSpPr>
          <p:cNvPr id="39" name="Text 37"/>
          <p:cNvSpPr/>
          <p:nvPr/>
        </p:nvSpPr>
        <p:spPr>
          <a:xfrm>
            <a:off x="4946904" y="3072384"/>
            <a:ext cx="3840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FR8</a:t>
            </a:r>
            <a:endParaRPr lang="en-US" sz="800" dirty="0"/>
          </a:p>
        </p:txBody>
      </p:sp>
      <p:sp>
        <p:nvSpPr>
          <p:cNvPr id="40" name="Text 38"/>
          <p:cNvSpPr/>
          <p:nvPr/>
        </p:nvSpPr>
        <p:spPr>
          <a:xfrm>
            <a:off x="5440680" y="3017520"/>
            <a:ext cx="3401568" cy="384048"/>
          </a:xfrm>
          <a:prstGeom prst="rect">
            <a:avLst/>
          </a:prstGeom>
          <a:noFill/>
          <a:ln/>
        </p:spPr>
        <p:txBody>
          <a:bodyPr wrap="square" rtlCol="0" anchor="ctr"/>
          <a:lstStyle/>
          <a:p>
            <a:pPr indent="0" marL="0">
              <a:lnSpc>
                <a:spcPct val="120000"/>
              </a:lnSpc>
              <a:buNone/>
            </a:pPr>
            <a:r>
              <a:rPr lang="en-US" sz="1000" dirty="0">
                <a:solidFill>
                  <a:srgbClr val="C8D8E8"/>
                </a:solidFill>
                <a:latin typeface="Calibri" pitchFamily="34" charset="0"/>
                <a:ea typeface="Calibri" pitchFamily="34" charset="-122"/>
                <a:cs typeface="Calibri" pitchFamily="34" charset="-120"/>
              </a:rPr>
              <a:t>Export attendance reports with registration metadata</a:t>
            </a:r>
            <a:endParaRPr lang="en-US" sz="1000" dirty="0"/>
          </a:p>
        </p:txBody>
      </p:sp>
      <p:sp>
        <p:nvSpPr>
          <p:cNvPr id="41" name="Shape 39"/>
          <p:cNvSpPr/>
          <p:nvPr/>
        </p:nvSpPr>
        <p:spPr>
          <a:xfrm>
            <a:off x="4818888" y="3584448"/>
            <a:ext cx="4160520" cy="594360"/>
          </a:xfrm>
          <a:prstGeom prst="rect">
            <a:avLst/>
          </a:prstGeom>
          <a:solidFill>
            <a:srgbClr val="243D5C"/>
          </a:solidFill>
          <a:ln w="9525">
            <a:solidFill>
              <a:srgbClr val="2E4A66"/>
            </a:solidFill>
            <a:prstDash val="solid"/>
          </a:ln>
        </p:spPr>
      </p:sp>
      <p:sp>
        <p:nvSpPr>
          <p:cNvPr id="42" name="Shape 40"/>
          <p:cNvSpPr/>
          <p:nvPr/>
        </p:nvSpPr>
        <p:spPr>
          <a:xfrm>
            <a:off x="4946904" y="3749040"/>
            <a:ext cx="384048" cy="256032"/>
          </a:xfrm>
          <a:prstGeom prst="rect">
            <a:avLst/>
          </a:prstGeom>
          <a:solidFill>
            <a:srgbClr val="2563A8"/>
          </a:solidFill>
          <a:ln/>
        </p:spPr>
      </p:sp>
      <p:sp>
        <p:nvSpPr>
          <p:cNvPr id="43" name="Text 41"/>
          <p:cNvSpPr/>
          <p:nvPr/>
        </p:nvSpPr>
        <p:spPr>
          <a:xfrm>
            <a:off x="4946904" y="3749040"/>
            <a:ext cx="3840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FR9</a:t>
            </a:r>
            <a:endParaRPr lang="en-US" sz="800" dirty="0"/>
          </a:p>
        </p:txBody>
      </p:sp>
      <p:sp>
        <p:nvSpPr>
          <p:cNvPr id="44" name="Text 42"/>
          <p:cNvSpPr/>
          <p:nvPr/>
        </p:nvSpPr>
        <p:spPr>
          <a:xfrm>
            <a:off x="5440680" y="3694176"/>
            <a:ext cx="3401568" cy="384048"/>
          </a:xfrm>
          <a:prstGeom prst="rect">
            <a:avLst/>
          </a:prstGeom>
          <a:noFill/>
          <a:ln/>
        </p:spPr>
        <p:txBody>
          <a:bodyPr wrap="square" rtlCol="0" anchor="ctr"/>
          <a:lstStyle/>
          <a:p>
            <a:pPr indent="0" marL="0">
              <a:lnSpc>
                <a:spcPct val="120000"/>
              </a:lnSpc>
              <a:buNone/>
            </a:pPr>
            <a:r>
              <a:rPr lang="en-US" sz="1000" dirty="0">
                <a:solidFill>
                  <a:srgbClr val="C8D8E8"/>
                </a:solidFill>
                <a:latin typeface="Calibri" pitchFamily="34" charset="0"/>
                <a:ea typeface="Calibri" pitchFamily="34" charset="-122"/>
                <a:cs typeface="Calibri" pitchFamily="34" charset="-120"/>
              </a:rPr>
              <a:t>Revoke or blacklist ticket access when required</a:t>
            </a:r>
            <a:endParaRPr lang="en-US" sz="1000" dirty="0"/>
          </a:p>
        </p:txBody>
      </p:sp>
      <p:sp>
        <p:nvSpPr>
          <p:cNvPr id="45" name="Shape 43"/>
          <p:cNvSpPr/>
          <p:nvPr/>
        </p:nvSpPr>
        <p:spPr>
          <a:xfrm>
            <a:off x="4818888" y="4261104"/>
            <a:ext cx="4160520" cy="594360"/>
          </a:xfrm>
          <a:prstGeom prst="rect">
            <a:avLst/>
          </a:prstGeom>
          <a:solidFill>
            <a:srgbClr val="243D5C"/>
          </a:solidFill>
          <a:ln w="9525">
            <a:solidFill>
              <a:srgbClr val="2E4A66"/>
            </a:solidFill>
            <a:prstDash val="solid"/>
          </a:ln>
        </p:spPr>
      </p:sp>
      <p:sp>
        <p:nvSpPr>
          <p:cNvPr id="46" name="Shape 44"/>
          <p:cNvSpPr/>
          <p:nvPr/>
        </p:nvSpPr>
        <p:spPr>
          <a:xfrm>
            <a:off x="4946904" y="4425696"/>
            <a:ext cx="384048" cy="256032"/>
          </a:xfrm>
          <a:prstGeom prst="rect">
            <a:avLst/>
          </a:prstGeom>
          <a:solidFill>
            <a:srgbClr val="2563A8"/>
          </a:solidFill>
          <a:ln/>
        </p:spPr>
      </p:sp>
      <p:sp>
        <p:nvSpPr>
          <p:cNvPr id="47" name="Text 45"/>
          <p:cNvSpPr/>
          <p:nvPr/>
        </p:nvSpPr>
        <p:spPr>
          <a:xfrm>
            <a:off x="4946904" y="4425696"/>
            <a:ext cx="3840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FR10</a:t>
            </a:r>
            <a:endParaRPr lang="en-US" sz="800" dirty="0"/>
          </a:p>
        </p:txBody>
      </p:sp>
      <p:sp>
        <p:nvSpPr>
          <p:cNvPr id="48" name="Text 46"/>
          <p:cNvSpPr/>
          <p:nvPr/>
        </p:nvSpPr>
        <p:spPr>
          <a:xfrm>
            <a:off x="5440680" y="4370832"/>
            <a:ext cx="3401568" cy="384048"/>
          </a:xfrm>
          <a:prstGeom prst="rect">
            <a:avLst/>
          </a:prstGeom>
          <a:noFill/>
          <a:ln/>
        </p:spPr>
        <p:txBody>
          <a:bodyPr wrap="square" rtlCol="0" anchor="ctr"/>
          <a:lstStyle/>
          <a:p>
            <a:pPr indent="0" marL="0">
              <a:lnSpc>
                <a:spcPct val="120000"/>
              </a:lnSpc>
              <a:buNone/>
            </a:pPr>
            <a:r>
              <a:rPr lang="en-US" sz="1000" dirty="0">
                <a:solidFill>
                  <a:srgbClr val="C8D8E8"/>
                </a:solidFill>
                <a:latin typeface="Calibri" pitchFamily="34" charset="0"/>
                <a:ea typeface="Calibri" pitchFamily="34" charset="-122"/>
                <a:cs typeface="Calibri" pitchFamily="34" charset="-120"/>
              </a:rPr>
              <a:t>View system health metrics and event analytics</a:t>
            </a:r>
            <a:endParaRPr lang="en-US" sz="1000" dirty="0"/>
          </a:p>
        </p:txBody>
      </p:sp>
      <p:sp>
        <p:nvSpPr>
          <p:cNvPr id="49" name="Text 47"/>
          <p:cNvSpPr/>
          <p:nvPr/>
        </p:nvSpPr>
        <p:spPr>
          <a:xfrm>
            <a:off x="8732520" y="4846320"/>
            <a:ext cx="320040" cy="201168"/>
          </a:xfrm>
          <a:prstGeom prst="rect">
            <a:avLst/>
          </a:prstGeom>
          <a:noFill/>
          <a:ln/>
        </p:spPr>
        <p:txBody>
          <a:bodyPr wrap="square" rtlCol="0" anchor="ctr"/>
          <a:lstStyle/>
          <a:p>
            <a:pPr algn="r" indent="0" marL="0">
              <a:buNone/>
            </a:pPr>
            <a:r>
              <a:rPr lang="en-US" sz="800" dirty="0">
                <a:solidFill>
                  <a:srgbClr val="8096AE"/>
                </a:solidFill>
                <a:latin typeface="Calibri" pitchFamily="34" charset="0"/>
                <a:ea typeface="Calibri" pitchFamily="34" charset="-122"/>
                <a:cs typeface="Calibri"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p:spPr>
      </p:sp>
      <p:sp>
        <p:nvSpPr>
          <p:cNvPr id="3" name="Shape 1"/>
          <p:cNvSpPr/>
          <p:nvPr/>
        </p:nvSpPr>
        <p:spPr>
          <a:xfrm>
            <a:off x="0" y="0"/>
            <a:ext cx="164592" cy="1005840"/>
          </a:xfrm>
          <a:prstGeom prst="rect">
            <a:avLst/>
          </a:prstGeom>
          <a:solidFill>
            <a:srgbClr val="2563A8"/>
          </a:solidFill>
          <a:ln/>
        </p:spPr>
      </p:sp>
      <p:sp>
        <p:nvSpPr>
          <p:cNvPr id="4" name="Text 2"/>
          <p:cNvSpPr/>
          <p:nvPr/>
        </p:nvSpPr>
        <p:spPr>
          <a:xfrm>
            <a:off x="411480" y="164592"/>
            <a:ext cx="8229600" cy="228600"/>
          </a:xfrm>
          <a:prstGeom prst="rect">
            <a:avLst/>
          </a:prstGeom>
          <a:noFill/>
          <a:ln/>
        </p:spPr>
        <p:txBody>
          <a:bodyPr wrap="square" rtlCol="0" anchor="ctr"/>
          <a:lstStyle/>
          <a:p>
            <a:pPr indent="0" marL="0">
              <a:buNone/>
            </a:pPr>
            <a:r>
              <a:rPr lang="en-US" sz="800" b="1" spc="150" kern="0" dirty="0">
                <a:solidFill>
                  <a:srgbClr val="8096AE"/>
                </a:solidFill>
                <a:latin typeface="Calibri" pitchFamily="34" charset="0"/>
                <a:ea typeface="Calibri" pitchFamily="34" charset="-122"/>
                <a:cs typeface="Calibri" pitchFamily="34" charset="-120"/>
              </a:rPr>
              <a:t>NON-FUNCTIONAL REQUIREMENTS</a:t>
            </a:r>
            <a:endParaRPr lang="en-US" sz="800" dirty="0"/>
          </a:p>
        </p:txBody>
      </p:sp>
      <p:sp>
        <p:nvSpPr>
          <p:cNvPr id="5" name="Text 3"/>
          <p:cNvSpPr/>
          <p:nvPr/>
        </p:nvSpPr>
        <p:spPr>
          <a:xfrm>
            <a:off x="411480" y="402336"/>
            <a:ext cx="8229600" cy="42062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Quality Attributes</a:t>
            </a:r>
            <a:endParaRPr lang="en-US" sz="2200" dirty="0"/>
          </a:p>
        </p:txBody>
      </p:sp>
      <p:sp>
        <p:nvSpPr>
          <p:cNvPr id="6" name="Shape 4"/>
          <p:cNvSpPr/>
          <p:nvPr/>
        </p:nvSpPr>
        <p:spPr>
          <a:xfrm>
            <a:off x="384048" y="1115568"/>
            <a:ext cx="2651760" cy="162763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384048" y="1115568"/>
            <a:ext cx="54864" cy="1627632"/>
          </a:xfrm>
          <a:prstGeom prst="rect">
            <a:avLst/>
          </a:prstGeom>
          <a:solidFill>
            <a:srgbClr val="2563A8"/>
          </a:solidFill>
          <a:ln/>
        </p:spPr>
      </p:sp>
      <p:sp>
        <p:nvSpPr>
          <p:cNvPr id="8" name="Text 6"/>
          <p:cNvSpPr/>
          <p:nvPr/>
        </p:nvSpPr>
        <p:spPr>
          <a:xfrm>
            <a:off x="566928" y="1243584"/>
            <a:ext cx="2377440" cy="329184"/>
          </a:xfrm>
          <a:prstGeom prst="rect">
            <a:avLst/>
          </a:prstGeom>
          <a:noFill/>
          <a:ln/>
        </p:spPr>
        <p:txBody>
          <a:bodyPr wrap="square" rtlCol="0" anchor="ctr"/>
          <a:lstStyle/>
          <a:p>
            <a:pPr indent="0" marL="0">
              <a:buNone/>
            </a:pPr>
            <a:r>
              <a:rPr lang="en-US" sz="1400" b="1" dirty="0">
                <a:solidFill>
                  <a:srgbClr val="1A2E4A"/>
                </a:solidFill>
                <a:latin typeface="Calibri" pitchFamily="34" charset="0"/>
                <a:ea typeface="Calibri" pitchFamily="34" charset="-122"/>
                <a:cs typeface="Calibri" pitchFamily="34" charset="-120"/>
              </a:rPr>
              <a:t>Security</a:t>
            </a:r>
            <a:endParaRPr lang="en-US" sz="1400" dirty="0"/>
          </a:p>
        </p:txBody>
      </p:sp>
      <p:sp>
        <p:nvSpPr>
          <p:cNvPr id="9" name="Text 7"/>
          <p:cNvSpPr/>
          <p:nvPr/>
        </p:nvSpPr>
        <p:spPr>
          <a:xfrm>
            <a:off x="566928" y="1609344"/>
            <a:ext cx="2377440" cy="1042416"/>
          </a:xfrm>
          <a:prstGeom prst="rect">
            <a:avLst/>
          </a:prstGeom>
          <a:noFill/>
          <a:ln/>
        </p:spPr>
        <p:txBody>
          <a:bodyPr wrap="square" rtlCol="0" anchor="ctr"/>
          <a:lstStyle/>
          <a:p>
            <a:pPr indent="0" marL="0">
              <a:lnSpc>
                <a:spcPct val="140000"/>
              </a:lnSpc>
              <a:buNone/>
            </a:pPr>
            <a:r>
              <a:rPr lang="en-US" sz="950" dirty="0">
                <a:solidFill>
                  <a:srgbClr val="4A5D72"/>
                </a:solidFill>
                <a:latin typeface="Calibri" pitchFamily="34" charset="0"/>
                <a:ea typeface="Calibri" pitchFamily="34" charset="-122"/>
                <a:cs typeface="Calibri" pitchFamily="34" charset="-120"/>
              </a:rPr>
              <a:t>JWT-based authentication, API key management, AES-256 encryption at rest, and HTTPS-only traffic via CloudFront and API Gateway.</a:t>
            </a:r>
            <a:endParaRPr lang="en-US" sz="950" dirty="0"/>
          </a:p>
        </p:txBody>
      </p:sp>
      <p:sp>
        <p:nvSpPr>
          <p:cNvPr id="10" name="Shape 8"/>
          <p:cNvSpPr/>
          <p:nvPr/>
        </p:nvSpPr>
        <p:spPr>
          <a:xfrm>
            <a:off x="3246120" y="1115568"/>
            <a:ext cx="2651760" cy="162763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11" name="Shape 9"/>
          <p:cNvSpPr/>
          <p:nvPr/>
        </p:nvSpPr>
        <p:spPr>
          <a:xfrm>
            <a:off x="3246120" y="1115568"/>
            <a:ext cx="54864" cy="1627632"/>
          </a:xfrm>
          <a:prstGeom prst="rect">
            <a:avLst/>
          </a:prstGeom>
          <a:solidFill>
            <a:srgbClr val="2563A8"/>
          </a:solidFill>
          <a:ln/>
        </p:spPr>
      </p:sp>
      <p:sp>
        <p:nvSpPr>
          <p:cNvPr id="12" name="Text 10"/>
          <p:cNvSpPr/>
          <p:nvPr/>
        </p:nvSpPr>
        <p:spPr>
          <a:xfrm>
            <a:off x="3429000" y="1243584"/>
            <a:ext cx="2377440" cy="329184"/>
          </a:xfrm>
          <a:prstGeom prst="rect">
            <a:avLst/>
          </a:prstGeom>
          <a:noFill/>
          <a:ln/>
        </p:spPr>
        <p:txBody>
          <a:bodyPr wrap="square" rtlCol="0" anchor="ctr"/>
          <a:lstStyle/>
          <a:p>
            <a:pPr indent="0" marL="0">
              <a:buNone/>
            </a:pPr>
            <a:r>
              <a:rPr lang="en-US" sz="1400" b="1" dirty="0">
                <a:solidFill>
                  <a:srgbClr val="1A2E4A"/>
                </a:solidFill>
                <a:latin typeface="Calibri" pitchFamily="34" charset="0"/>
                <a:ea typeface="Calibri" pitchFamily="34" charset="-122"/>
                <a:cs typeface="Calibri" pitchFamily="34" charset="-120"/>
              </a:rPr>
              <a:t>Scalability</a:t>
            </a:r>
            <a:endParaRPr lang="en-US" sz="1400" dirty="0"/>
          </a:p>
        </p:txBody>
      </p:sp>
      <p:sp>
        <p:nvSpPr>
          <p:cNvPr id="13" name="Text 11"/>
          <p:cNvSpPr/>
          <p:nvPr/>
        </p:nvSpPr>
        <p:spPr>
          <a:xfrm>
            <a:off x="3429000" y="1609344"/>
            <a:ext cx="2377440" cy="1042416"/>
          </a:xfrm>
          <a:prstGeom prst="rect">
            <a:avLst/>
          </a:prstGeom>
          <a:noFill/>
          <a:ln/>
        </p:spPr>
        <p:txBody>
          <a:bodyPr wrap="square" rtlCol="0" anchor="ctr"/>
          <a:lstStyle/>
          <a:p>
            <a:pPr indent="0" marL="0">
              <a:lnSpc>
                <a:spcPct val="140000"/>
              </a:lnSpc>
              <a:buNone/>
            </a:pPr>
            <a:r>
              <a:rPr lang="en-US" sz="950" dirty="0">
                <a:solidFill>
                  <a:srgbClr val="4A5D72"/>
                </a:solidFill>
                <a:latin typeface="Calibri" pitchFamily="34" charset="0"/>
                <a:ea typeface="Calibri" pitchFamily="34" charset="-122"/>
                <a:cs typeface="Calibri" pitchFamily="34" charset="-120"/>
              </a:rPr>
              <a:t>AWS Auto Scaling Group adjusts EC2 instances dynamically. DynamoDB provides unlimited throughput scaling with no downtime.</a:t>
            </a:r>
            <a:endParaRPr lang="en-US" sz="950" dirty="0"/>
          </a:p>
        </p:txBody>
      </p:sp>
      <p:sp>
        <p:nvSpPr>
          <p:cNvPr id="14" name="Shape 12"/>
          <p:cNvSpPr/>
          <p:nvPr/>
        </p:nvSpPr>
        <p:spPr>
          <a:xfrm>
            <a:off x="6108192" y="1115568"/>
            <a:ext cx="2651760" cy="162763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15" name="Shape 13"/>
          <p:cNvSpPr/>
          <p:nvPr/>
        </p:nvSpPr>
        <p:spPr>
          <a:xfrm>
            <a:off x="6108192" y="1115568"/>
            <a:ext cx="54864" cy="1627632"/>
          </a:xfrm>
          <a:prstGeom prst="rect">
            <a:avLst/>
          </a:prstGeom>
          <a:solidFill>
            <a:srgbClr val="2563A8"/>
          </a:solidFill>
          <a:ln/>
        </p:spPr>
      </p:sp>
      <p:sp>
        <p:nvSpPr>
          <p:cNvPr id="16" name="Text 14"/>
          <p:cNvSpPr/>
          <p:nvPr/>
        </p:nvSpPr>
        <p:spPr>
          <a:xfrm>
            <a:off x="6291072" y="1243584"/>
            <a:ext cx="2377440" cy="329184"/>
          </a:xfrm>
          <a:prstGeom prst="rect">
            <a:avLst/>
          </a:prstGeom>
          <a:noFill/>
          <a:ln/>
        </p:spPr>
        <p:txBody>
          <a:bodyPr wrap="square" rtlCol="0" anchor="ctr"/>
          <a:lstStyle/>
          <a:p>
            <a:pPr indent="0" marL="0">
              <a:buNone/>
            </a:pPr>
            <a:r>
              <a:rPr lang="en-US" sz="1400" b="1" dirty="0">
                <a:solidFill>
                  <a:srgbClr val="1A2E4A"/>
                </a:solidFill>
                <a:latin typeface="Calibri" pitchFamily="34" charset="0"/>
                <a:ea typeface="Calibri" pitchFamily="34" charset="-122"/>
                <a:cs typeface="Calibri" pitchFamily="34" charset="-120"/>
              </a:rPr>
              <a:t>Availability</a:t>
            </a:r>
            <a:endParaRPr lang="en-US" sz="1400" dirty="0"/>
          </a:p>
        </p:txBody>
      </p:sp>
      <p:sp>
        <p:nvSpPr>
          <p:cNvPr id="17" name="Text 15"/>
          <p:cNvSpPr/>
          <p:nvPr/>
        </p:nvSpPr>
        <p:spPr>
          <a:xfrm>
            <a:off x="6291072" y="1609344"/>
            <a:ext cx="2377440" cy="1042416"/>
          </a:xfrm>
          <a:prstGeom prst="rect">
            <a:avLst/>
          </a:prstGeom>
          <a:noFill/>
          <a:ln/>
        </p:spPr>
        <p:txBody>
          <a:bodyPr wrap="square" rtlCol="0" anchor="ctr"/>
          <a:lstStyle/>
          <a:p>
            <a:pPr indent="0" marL="0">
              <a:lnSpc>
                <a:spcPct val="140000"/>
              </a:lnSpc>
              <a:buNone/>
            </a:pPr>
            <a:r>
              <a:rPr lang="en-US" sz="950" dirty="0">
                <a:solidFill>
                  <a:srgbClr val="4A5D72"/>
                </a:solidFill>
                <a:latin typeface="Calibri" pitchFamily="34" charset="0"/>
                <a:ea typeface="Calibri" pitchFamily="34" charset="-122"/>
                <a:cs typeface="Calibri" pitchFamily="34" charset="-120"/>
              </a:rPr>
              <a:t>Multi-AZ Application Load Balancer deployment eliminates single points of failure. Health checks replace failed instances automatically.</a:t>
            </a:r>
            <a:endParaRPr lang="en-US" sz="950" dirty="0"/>
          </a:p>
        </p:txBody>
      </p:sp>
      <p:sp>
        <p:nvSpPr>
          <p:cNvPr id="18" name="Shape 16"/>
          <p:cNvSpPr/>
          <p:nvPr/>
        </p:nvSpPr>
        <p:spPr>
          <a:xfrm>
            <a:off x="1810512" y="2926080"/>
            <a:ext cx="2651760" cy="162763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19" name="Shape 17"/>
          <p:cNvSpPr/>
          <p:nvPr/>
        </p:nvSpPr>
        <p:spPr>
          <a:xfrm>
            <a:off x="1810512" y="2926080"/>
            <a:ext cx="54864" cy="1627632"/>
          </a:xfrm>
          <a:prstGeom prst="rect">
            <a:avLst/>
          </a:prstGeom>
          <a:solidFill>
            <a:srgbClr val="2563A8"/>
          </a:solidFill>
          <a:ln/>
        </p:spPr>
      </p:sp>
      <p:sp>
        <p:nvSpPr>
          <p:cNvPr id="20" name="Text 18"/>
          <p:cNvSpPr/>
          <p:nvPr/>
        </p:nvSpPr>
        <p:spPr>
          <a:xfrm>
            <a:off x="1993392" y="3054096"/>
            <a:ext cx="2377440" cy="329184"/>
          </a:xfrm>
          <a:prstGeom prst="rect">
            <a:avLst/>
          </a:prstGeom>
          <a:noFill/>
          <a:ln/>
        </p:spPr>
        <p:txBody>
          <a:bodyPr wrap="square" rtlCol="0" anchor="ctr"/>
          <a:lstStyle/>
          <a:p>
            <a:pPr indent="0" marL="0">
              <a:buNone/>
            </a:pPr>
            <a:r>
              <a:rPr lang="en-US" sz="1400" b="1" dirty="0">
                <a:solidFill>
                  <a:srgbClr val="1A2E4A"/>
                </a:solidFill>
                <a:latin typeface="Calibri" pitchFamily="34" charset="0"/>
                <a:ea typeface="Calibri" pitchFamily="34" charset="-122"/>
                <a:cs typeface="Calibri" pitchFamily="34" charset="-120"/>
              </a:rPr>
              <a:t>Performance</a:t>
            </a:r>
            <a:endParaRPr lang="en-US" sz="1400" dirty="0"/>
          </a:p>
        </p:txBody>
      </p:sp>
      <p:sp>
        <p:nvSpPr>
          <p:cNvPr id="21" name="Text 19"/>
          <p:cNvSpPr/>
          <p:nvPr/>
        </p:nvSpPr>
        <p:spPr>
          <a:xfrm>
            <a:off x="1993392" y="3419856"/>
            <a:ext cx="2377440" cy="1042416"/>
          </a:xfrm>
          <a:prstGeom prst="rect">
            <a:avLst/>
          </a:prstGeom>
          <a:noFill/>
          <a:ln/>
        </p:spPr>
        <p:txBody>
          <a:bodyPr wrap="square" rtlCol="0" anchor="ctr"/>
          <a:lstStyle/>
          <a:p>
            <a:pPr indent="0" marL="0">
              <a:lnSpc>
                <a:spcPct val="140000"/>
              </a:lnSpc>
              <a:buNone/>
            </a:pPr>
            <a:r>
              <a:rPr lang="en-US" sz="950" dirty="0">
                <a:solidFill>
                  <a:srgbClr val="4A5D72"/>
                </a:solidFill>
                <a:latin typeface="Calibri" pitchFamily="34" charset="0"/>
                <a:ea typeface="Calibri" pitchFamily="34" charset="-122"/>
                <a:cs typeface="Calibri" pitchFamily="34" charset="-120"/>
              </a:rPr>
              <a:t>CloudFront CDN serves assets from edge locations globally. Lambda optimisation and DynamoDB DAX caching minimise response times.</a:t>
            </a:r>
            <a:endParaRPr lang="en-US" sz="950" dirty="0"/>
          </a:p>
        </p:txBody>
      </p:sp>
      <p:sp>
        <p:nvSpPr>
          <p:cNvPr id="22" name="Shape 20"/>
          <p:cNvSpPr/>
          <p:nvPr/>
        </p:nvSpPr>
        <p:spPr>
          <a:xfrm>
            <a:off x="4663440" y="2926080"/>
            <a:ext cx="2651760" cy="1627632"/>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23" name="Shape 21"/>
          <p:cNvSpPr/>
          <p:nvPr/>
        </p:nvSpPr>
        <p:spPr>
          <a:xfrm>
            <a:off x="4663440" y="2926080"/>
            <a:ext cx="54864" cy="1627632"/>
          </a:xfrm>
          <a:prstGeom prst="rect">
            <a:avLst/>
          </a:prstGeom>
          <a:solidFill>
            <a:srgbClr val="2563A8"/>
          </a:solidFill>
          <a:ln/>
        </p:spPr>
      </p:sp>
      <p:sp>
        <p:nvSpPr>
          <p:cNvPr id="24" name="Text 22"/>
          <p:cNvSpPr/>
          <p:nvPr/>
        </p:nvSpPr>
        <p:spPr>
          <a:xfrm>
            <a:off x="4846320" y="3054096"/>
            <a:ext cx="2377440" cy="329184"/>
          </a:xfrm>
          <a:prstGeom prst="rect">
            <a:avLst/>
          </a:prstGeom>
          <a:noFill/>
          <a:ln/>
        </p:spPr>
        <p:txBody>
          <a:bodyPr wrap="square" rtlCol="0" anchor="ctr"/>
          <a:lstStyle/>
          <a:p>
            <a:pPr indent="0" marL="0">
              <a:buNone/>
            </a:pPr>
            <a:r>
              <a:rPr lang="en-US" sz="1400" b="1" dirty="0">
                <a:solidFill>
                  <a:srgbClr val="1A2E4A"/>
                </a:solidFill>
                <a:latin typeface="Calibri" pitchFamily="34" charset="0"/>
                <a:ea typeface="Calibri" pitchFamily="34" charset="-122"/>
                <a:cs typeface="Calibri" pitchFamily="34" charset="-120"/>
              </a:rPr>
              <a:t>Reliability</a:t>
            </a:r>
            <a:endParaRPr lang="en-US" sz="1400" dirty="0"/>
          </a:p>
        </p:txBody>
      </p:sp>
      <p:sp>
        <p:nvSpPr>
          <p:cNvPr id="25" name="Text 23"/>
          <p:cNvSpPr/>
          <p:nvPr/>
        </p:nvSpPr>
        <p:spPr>
          <a:xfrm>
            <a:off x="4846320" y="3419856"/>
            <a:ext cx="2377440" cy="1042416"/>
          </a:xfrm>
          <a:prstGeom prst="rect">
            <a:avLst/>
          </a:prstGeom>
          <a:noFill/>
          <a:ln/>
        </p:spPr>
        <p:txBody>
          <a:bodyPr wrap="square" rtlCol="0" anchor="ctr"/>
          <a:lstStyle/>
          <a:p>
            <a:pPr indent="0" marL="0">
              <a:lnSpc>
                <a:spcPct val="140000"/>
              </a:lnSpc>
              <a:buNone/>
            </a:pPr>
            <a:r>
              <a:rPr lang="en-US" sz="950" dirty="0">
                <a:solidFill>
                  <a:srgbClr val="4A5D72"/>
                </a:solidFill>
                <a:latin typeface="Calibri" pitchFamily="34" charset="0"/>
                <a:ea typeface="Calibri" pitchFamily="34" charset="-122"/>
                <a:cs typeface="Calibri" pitchFamily="34" charset="-120"/>
              </a:rPr>
              <a:t>DynamoDB multi-region replication and S3 object storage provide persistent, durable data storage across availability zones.</a:t>
            </a:r>
            <a:endParaRPr lang="en-US" sz="950" dirty="0"/>
          </a:p>
        </p:txBody>
      </p:sp>
      <p:sp>
        <p:nvSpPr>
          <p:cNvPr id="26" name="Text 24"/>
          <p:cNvSpPr/>
          <p:nvPr/>
        </p:nvSpPr>
        <p:spPr>
          <a:xfrm>
            <a:off x="8732520" y="4846320"/>
            <a:ext cx="320040" cy="201168"/>
          </a:xfrm>
          <a:prstGeom prst="rect">
            <a:avLst/>
          </a:prstGeom>
          <a:noFill/>
          <a:ln/>
        </p:spPr>
        <p:txBody>
          <a:bodyPr wrap="square" rtlCol="0" anchor="ctr"/>
          <a:lstStyle/>
          <a:p>
            <a:pPr algn="r" indent="0" marL="0">
              <a:buNone/>
            </a:pPr>
            <a:r>
              <a:rPr lang="en-US" sz="800" dirty="0">
                <a:solidFill>
                  <a:srgbClr val="8096AE"/>
                </a:solidFill>
                <a:latin typeface="Calibri" pitchFamily="34" charset="0"/>
                <a:ea typeface="Calibri" pitchFamily="34" charset="-122"/>
                <a:cs typeface="Calibri"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563A8"/>
          </a:solidFill>
          <a:ln/>
        </p:spPr>
      </p:sp>
      <p:sp>
        <p:nvSpPr>
          <p:cNvPr id="3" name="Text 1"/>
          <p:cNvSpPr/>
          <p:nvPr/>
        </p:nvSpPr>
        <p:spPr>
          <a:xfrm>
            <a:off x="411480" y="274320"/>
            <a:ext cx="8229600" cy="237744"/>
          </a:xfrm>
          <a:prstGeom prst="rect">
            <a:avLst/>
          </a:prstGeom>
          <a:noFill/>
          <a:ln/>
        </p:spPr>
        <p:txBody>
          <a:bodyPr wrap="square" rtlCol="0" anchor="ctr"/>
          <a:lstStyle/>
          <a:p>
            <a:pPr indent="0" marL="0">
              <a:buNone/>
            </a:pPr>
            <a:r>
              <a:rPr lang="en-US" sz="800" b="1" spc="200" kern="0" dirty="0">
                <a:solidFill>
                  <a:srgbClr val="8096AE"/>
                </a:solidFill>
                <a:latin typeface="Calibri" pitchFamily="34" charset="0"/>
                <a:ea typeface="Calibri" pitchFamily="34" charset="-122"/>
                <a:cs typeface="Calibri" pitchFamily="34" charset="-120"/>
              </a:rPr>
              <a:t>CUSTOM OOP LIBRARY DESIGN</a:t>
            </a:r>
            <a:endParaRPr lang="en-US" sz="800" dirty="0"/>
          </a:p>
        </p:txBody>
      </p:sp>
      <p:sp>
        <p:nvSpPr>
          <p:cNvPr id="4" name="Text 2"/>
          <p:cNvSpPr/>
          <p:nvPr/>
        </p:nvSpPr>
        <p:spPr>
          <a:xfrm>
            <a:off x="411480" y="530352"/>
            <a:ext cx="8229600" cy="45720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QRTicketManager — Reusable Utility Library</a:t>
            </a:r>
            <a:endParaRPr lang="en-US" sz="2400" dirty="0"/>
          </a:p>
        </p:txBody>
      </p:sp>
      <p:sp>
        <p:nvSpPr>
          <p:cNvPr id="5" name="Shape 3"/>
          <p:cNvSpPr/>
          <p:nvPr/>
        </p:nvSpPr>
        <p:spPr>
          <a:xfrm>
            <a:off x="411480" y="1133856"/>
            <a:ext cx="8321040" cy="804672"/>
          </a:xfrm>
          <a:prstGeom prst="rect">
            <a:avLst/>
          </a:prstGeom>
          <a:solidFill>
            <a:srgbClr val="243D5C"/>
          </a:solidFill>
          <a:ln w="9525">
            <a:solidFill>
              <a:srgbClr val="2E4A66"/>
            </a:solidFill>
            <a:prstDash val="solid"/>
          </a:ln>
        </p:spPr>
      </p:sp>
      <p:sp>
        <p:nvSpPr>
          <p:cNvPr id="6" name="Shape 4"/>
          <p:cNvSpPr/>
          <p:nvPr/>
        </p:nvSpPr>
        <p:spPr>
          <a:xfrm>
            <a:off x="411480" y="1133856"/>
            <a:ext cx="54864" cy="804672"/>
          </a:xfrm>
          <a:prstGeom prst="rect">
            <a:avLst/>
          </a:prstGeom>
          <a:solidFill>
            <a:srgbClr val="2563A8"/>
          </a:solidFill>
          <a:ln/>
        </p:spPr>
      </p:sp>
      <p:sp>
        <p:nvSpPr>
          <p:cNvPr id="7" name="Text 5"/>
          <p:cNvSpPr/>
          <p:nvPr/>
        </p:nvSpPr>
        <p:spPr>
          <a:xfrm>
            <a:off x="594360" y="1188720"/>
            <a:ext cx="1828800" cy="219456"/>
          </a:xfrm>
          <a:prstGeom prst="rect">
            <a:avLst/>
          </a:prstGeom>
          <a:noFill/>
          <a:ln/>
        </p:spPr>
        <p:txBody>
          <a:bodyPr wrap="square" rtlCol="0" anchor="ctr"/>
          <a:lstStyle/>
          <a:p>
            <a:pPr indent="0" marL="0">
              <a:buNone/>
            </a:pPr>
            <a:r>
              <a:rPr lang="en-US" sz="800" b="1" spc="100" kern="0" dirty="0">
                <a:solidFill>
                  <a:srgbClr val="8096AE"/>
                </a:solidFill>
                <a:latin typeface="Calibri" pitchFamily="34" charset="0"/>
                <a:ea typeface="Calibri" pitchFamily="34" charset="-122"/>
                <a:cs typeface="Calibri" pitchFamily="34" charset="-120"/>
              </a:rPr>
              <a:t>Library Name</a:t>
            </a:r>
            <a:endParaRPr lang="en-US" sz="800" dirty="0"/>
          </a:p>
        </p:txBody>
      </p:sp>
      <p:sp>
        <p:nvSpPr>
          <p:cNvPr id="8" name="Text 6"/>
          <p:cNvSpPr/>
          <p:nvPr/>
        </p:nvSpPr>
        <p:spPr>
          <a:xfrm>
            <a:off x="594360" y="1389888"/>
            <a:ext cx="3200400" cy="420624"/>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QRTicketManager</a:t>
            </a:r>
            <a:endParaRPr lang="en-US" sz="2000" dirty="0"/>
          </a:p>
        </p:txBody>
      </p:sp>
      <p:sp>
        <p:nvSpPr>
          <p:cNvPr id="9" name="Text 7"/>
          <p:cNvSpPr/>
          <p:nvPr/>
        </p:nvSpPr>
        <p:spPr>
          <a:xfrm>
            <a:off x="4023360" y="1188720"/>
            <a:ext cx="4480560" cy="694944"/>
          </a:xfrm>
          <a:prstGeom prst="rect">
            <a:avLst/>
          </a:prstGeom>
          <a:noFill/>
          <a:ln/>
        </p:spPr>
        <p:txBody>
          <a:bodyPr wrap="square" rtlCol="0" anchor="ctr"/>
          <a:lstStyle/>
          <a:p>
            <a:pPr indent="0" marL="0">
              <a:lnSpc>
                <a:spcPct val="140000"/>
              </a:lnSpc>
              <a:buNone/>
            </a:pPr>
            <a:r>
              <a:rPr lang="en-US" sz="1000" dirty="0">
                <a:solidFill>
                  <a:srgbClr val="A8BECF"/>
                </a:solidFill>
                <a:latin typeface="Calibri" pitchFamily="34" charset="0"/>
                <a:ea typeface="Calibri" pitchFamily="34" charset="-122"/>
                <a:cs typeface="Calibri" pitchFamily="34" charset="-120"/>
              </a:rPr>
              <a:t>A reusable, object-oriented utility library that encapsulates all ticket logic — generation, validation, encoding, and logging — as modular, independently testable components.</a:t>
            </a:r>
            <a:endParaRPr lang="en-US" sz="1000" dirty="0"/>
          </a:p>
        </p:txBody>
      </p:sp>
      <p:sp>
        <p:nvSpPr>
          <p:cNvPr id="10" name="Shape 8"/>
          <p:cNvSpPr/>
          <p:nvPr/>
        </p:nvSpPr>
        <p:spPr>
          <a:xfrm>
            <a:off x="411480" y="2084832"/>
            <a:ext cx="4114800" cy="1389888"/>
          </a:xfrm>
          <a:prstGeom prst="rect">
            <a:avLst/>
          </a:prstGeom>
          <a:solidFill>
            <a:srgbClr val="243D5C"/>
          </a:solidFill>
          <a:ln w="9525">
            <a:solidFill>
              <a:srgbClr val="2E4A66"/>
            </a:solidFill>
            <a:prstDash val="solid"/>
          </a:ln>
        </p:spPr>
      </p:sp>
      <p:sp>
        <p:nvSpPr>
          <p:cNvPr id="11" name="Shape 9"/>
          <p:cNvSpPr/>
          <p:nvPr/>
        </p:nvSpPr>
        <p:spPr>
          <a:xfrm>
            <a:off x="411480" y="2084832"/>
            <a:ext cx="54864" cy="1389888"/>
          </a:xfrm>
          <a:prstGeom prst="rect">
            <a:avLst/>
          </a:prstGeom>
          <a:solidFill>
            <a:srgbClr val="2563A8"/>
          </a:solidFill>
          <a:ln/>
        </p:spPr>
      </p:sp>
      <p:sp>
        <p:nvSpPr>
          <p:cNvPr id="12" name="Text 10"/>
          <p:cNvSpPr/>
          <p:nvPr/>
        </p:nvSpPr>
        <p:spPr>
          <a:xfrm>
            <a:off x="576072" y="2212848"/>
            <a:ext cx="420624" cy="347472"/>
          </a:xfrm>
          <a:prstGeom prst="rect">
            <a:avLst/>
          </a:prstGeom>
          <a:noFill/>
          <a:ln/>
        </p:spPr>
        <p:txBody>
          <a:bodyPr wrap="square" rtlCol="0" anchor="ctr"/>
          <a:lstStyle/>
          <a:p>
            <a:pPr indent="0" marL="0">
              <a:buNone/>
            </a:pPr>
            <a:r>
              <a:rPr lang="en-US" sz="1600" b="1" dirty="0">
                <a:solidFill>
                  <a:srgbClr val="2563A8"/>
                </a:solidFill>
                <a:latin typeface="Calibri" pitchFamily="34" charset="0"/>
                <a:ea typeface="Calibri" pitchFamily="34" charset="-122"/>
                <a:cs typeface="Calibri" pitchFamily="34" charset="-120"/>
              </a:rPr>
              <a:t>01</a:t>
            </a:r>
            <a:endParaRPr lang="en-US" sz="1600" dirty="0"/>
          </a:p>
        </p:txBody>
      </p:sp>
      <p:sp>
        <p:nvSpPr>
          <p:cNvPr id="13" name="Text 11"/>
          <p:cNvSpPr/>
          <p:nvPr/>
        </p:nvSpPr>
        <p:spPr>
          <a:xfrm>
            <a:off x="1106424" y="2212848"/>
            <a:ext cx="3291840" cy="29260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Ticket ID Generation</a:t>
            </a:r>
            <a:endParaRPr lang="en-US" sz="1150" dirty="0"/>
          </a:p>
        </p:txBody>
      </p:sp>
      <p:sp>
        <p:nvSpPr>
          <p:cNvPr id="14" name="Text 12"/>
          <p:cNvSpPr/>
          <p:nvPr/>
        </p:nvSpPr>
        <p:spPr>
          <a:xfrm>
            <a:off x="576072" y="2615184"/>
            <a:ext cx="3840480" cy="768096"/>
          </a:xfrm>
          <a:prstGeom prst="rect">
            <a:avLst/>
          </a:prstGeom>
          <a:noFill/>
          <a:ln/>
        </p:spPr>
        <p:txBody>
          <a:bodyPr wrap="square" rtlCol="0" anchor="ctr"/>
          <a:lstStyle/>
          <a:p>
            <a:pPr indent="0" marL="0">
              <a:lnSpc>
                <a:spcPct val="140000"/>
              </a:lnSpc>
              <a:buNone/>
            </a:pPr>
            <a:r>
              <a:rPr lang="en-US" sz="950" dirty="0">
                <a:solidFill>
                  <a:srgbClr val="A8BECF"/>
                </a:solidFill>
                <a:latin typeface="Calibri" pitchFamily="34" charset="0"/>
                <a:ea typeface="Calibri" pitchFamily="34" charset="-122"/>
                <a:cs typeface="Calibri" pitchFamily="34" charset="-120"/>
              </a:rPr>
              <a:t>Generates a cryptographically unique identifier per registration, combining event and user data to ensure every ticket is distinct and traceable.</a:t>
            </a:r>
            <a:endParaRPr lang="en-US" sz="950" dirty="0"/>
          </a:p>
        </p:txBody>
      </p:sp>
      <p:sp>
        <p:nvSpPr>
          <p:cNvPr id="15" name="Shape 13"/>
          <p:cNvSpPr/>
          <p:nvPr/>
        </p:nvSpPr>
        <p:spPr>
          <a:xfrm>
            <a:off x="4681728" y="2084832"/>
            <a:ext cx="4114800" cy="1389888"/>
          </a:xfrm>
          <a:prstGeom prst="rect">
            <a:avLst/>
          </a:prstGeom>
          <a:solidFill>
            <a:srgbClr val="243D5C"/>
          </a:solidFill>
          <a:ln w="9525">
            <a:solidFill>
              <a:srgbClr val="2E4A66"/>
            </a:solidFill>
            <a:prstDash val="solid"/>
          </a:ln>
        </p:spPr>
      </p:sp>
      <p:sp>
        <p:nvSpPr>
          <p:cNvPr id="16" name="Shape 14"/>
          <p:cNvSpPr/>
          <p:nvPr/>
        </p:nvSpPr>
        <p:spPr>
          <a:xfrm>
            <a:off x="4681728" y="2084832"/>
            <a:ext cx="54864" cy="1389888"/>
          </a:xfrm>
          <a:prstGeom prst="rect">
            <a:avLst/>
          </a:prstGeom>
          <a:solidFill>
            <a:srgbClr val="2563A8"/>
          </a:solidFill>
          <a:ln/>
        </p:spPr>
      </p:sp>
      <p:sp>
        <p:nvSpPr>
          <p:cNvPr id="17" name="Text 15"/>
          <p:cNvSpPr/>
          <p:nvPr/>
        </p:nvSpPr>
        <p:spPr>
          <a:xfrm>
            <a:off x="4846320" y="2212848"/>
            <a:ext cx="420624" cy="347472"/>
          </a:xfrm>
          <a:prstGeom prst="rect">
            <a:avLst/>
          </a:prstGeom>
          <a:noFill/>
          <a:ln/>
        </p:spPr>
        <p:txBody>
          <a:bodyPr wrap="square" rtlCol="0" anchor="ctr"/>
          <a:lstStyle/>
          <a:p>
            <a:pPr indent="0" marL="0">
              <a:buNone/>
            </a:pPr>
            <a:r>
              <a:rPr lang="en-US" sz="1600" b="1" dirty="0">
                <a:solidFill>
                  <a:srgbClr val="2563A8"/>
                </a:solidFill>
                <a:latin typeface="Calibri" pitchFamily="34" charset="0"/>
                <a:ea typeface="Calibri" pitchFamily="34" charset="-122"/>
                <a:cs typeface="Calibri" pitchFamily="34" charset="-120"/>
              </a:rPr>
              <a:t>02</a:t>
            </a:r>
            <a:endParaRPr lang="en-US" sz="1600" dirty="0"/>
          </a:p>
        </p:txBody>
      </p:sp>
      <p:sp>
        <p:nvSpPr>
          <p:cNvPr id="18" name="Text 16"/>
          <p:cNvSpPr/>
          <p:nvPr/>
        </p:nvSpPr>
        <p:spPr>
          <a:xfrm>
            <a:off x="5376672" y="2212848"/>
            <a:ext cx="3291840" cy="29260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QR Code Creation</a:t>
            </a:r>
            <a:endParaRPr lang="en-US" sz="1150" dirty="0"/>
          </a:p>
        </p:txBody>
      </p:sp>
      <p:sp>
        <p:nvSpPr>
          <p:cNvPr id="19" name="Text 17"/>
          <p:cNvSpPr/>
          <p:nvPr/>
        </p:nvSpPr>
        <p:spPr>
          <a:xfrm>
            <a:off x="4846320" y="2615184"/>
            <a:ext cx="3840480" cy="768096"/>
          </a:xfrm>
          <a:prstGeom prst="rect">
            <a:avLst/>
          </a:prstGeom>
          <a:noFill/>
          <a:ln/>
        </p:spPr>
        <p:txBody>
          <a:bodyPr wrap="square" rtlCol="0" anchor="ctr"/>
          <a:lstStyle/>
          <a:p>
            <a:pPr indent="0" marL="0">
              <a:lnSpc>
                <a:spcPct val="140000"/>
              </a:lnSpc>
              <a:buNone/>
            </a:pPr>
            <a:r>
              <a:rPr lang="en-US" sz="950" dirty="0">
                <a:solidFill>
                  <a:srgbClr val="A8BECF"/>
                </a:solidFill>
                <a:latin typeface="Calibri" pitchFamily="34" charset="0"/>
                <a:ea typeface="Calibri" pitchFamily="34" charset="-122"/>
                <a:cs typeface="Calibri" pitchFamily="34" charset="-120"/>
              </a:rPr>
              <a:t>Encodes the ticket payload into a scannable QR image and stores it to S3 for retrieval and delivery to the registered attendee.</a:t>
            </a:r>
            <a:endParaRPr lang="en-US" sz="950" dirty="0"/>
          </a:p>
        </p:txBody>
      </p:sp>
      <p:sp>
        <p:nvSpPr>
          <p:cNvPr id="20" name="Shape 18"/>
          <p:cNvSpPr/>
          <p:nvPr/>
        </p:nvSpPr>
        <p:spPr>
          <a:xfrm>
            <a:off x="411480" y="3593592"/>
            <a:ext cx="4114800" cy="1389888"/>
          </a:xfrm>
          <a:prstGeom prst="rect">
            <a:avLst/>
          </a:prstGeom>
          <a:solidFill>
            <a:srgbClr val="243D5C"/>
          </a:solidFill>
          <a:ln w="9525">
            <a:solidFill>
              <a:srgbClr val="2E4A66"/>
            </a:solidFill>
            <a:prstDash val="solid"/>
          </a:ln>
        </p:spPr>
      </p:sp>
      <p:sp>
        <p:nvSpPr>
          <p:cNvPr id="21" name="Shape 19"/>
          <p:cNvSpPr/>
          <p:nvPr/>
        </p:nvSpPr>
        <p:spPr>
          <a:xfrm>
            <a:off x="411480" y="3593592"/>
            <a:ext cx="54864" cy="1389888"/>
          </a:xfrm>
          <a:prstGeom prst="rect">
            <a:avLst/>
          </a:prstGeom>
          <a:solidFill>
            <a:srgbClr val="2563A8"/>
          </a:solidFill>
          <a:ln/>
        </p:spPr>
      </p:sp>
      <p:sp>
        <p:nvSpPr>
          <p:cNvPr id="22" name="Text 20"/>
          <p:cNvSpPr/>
          <p:nvPr/>
        </p:nvSpPr>
        <p:spPr>
          <a:xfrm>
            <a:off x="576072" y="3721608"/>
            <a:ext cx="420624" cy="347472"/>
          </a:xfrm>
          <a:prstGeom prst="rect">
            <a:avLst/>
          </a:prstGeom>
          <a:noFill/>
          <a:ln/>
        </p:spPr>
        <p:txBody>
          <a:bodyPr wrap="square" rtlCol="0" anchor="ctr"/>
          <a:lstStyle/>
          <a:p>
            <a:pPr indent="0" marL="0">
              <a:buNone/>
            </a:pPr>
            <a:r>
              <a:rPr lang="en-US" sz="1600" b="1" dirty="0">
                <a:solidFill>
                  <a:srgbClr val="2563A8"/>
                </a:solidFill>
                <a:latin typeface="Calibri" pitchFamily="34" charset="0"/>
                <a:ea typeface="Calibri" pitchFamily="34" charset="-122"/>
                <a:cs typeface="Calibri" pitchFamily="34" charset="-120"/>
              </a:rPr>
              <a:t>03</a:t>
            </a:r>
            <a:endParaRPr lang="en-US" sz="1600" dirty="0"/>
          </a:p>
        </p:txBody>
      </p:sp>
      <p:sp>
        <p:nvSpPr>
          <p:cNvPr id="23" name="Text 21"/>
          <p:cNvSpPr/>
          <p:nvPr/>
        </p:nvSpPr>
        <p:spPr>
          <a:xfrm>
            <a:off x="1106424" y="3721608"/>
            <a:ext cx="3291840" cy="29260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Authenticity Validation</a:t>
            </a:r>
            <a:endParaRPr lang="en-US" sz="1150" dirty="0"/>
          </a:p>
        </p:txBody>
      </p:sp>
      <p:sp>
        <p:nvSpPr>
          <p:cNvPr id="24" name="Text 22"/>
          <p:cNvSpPr/>
          <p:nvPr/>
        </p:nvSpPr>
        <p:spPr>
          <a:xfrm>
            <a:off x="576072" y="4123944"/>
            <a:ext cx="3840480" cy="768096"/>
          </a:xfrm>
          <a:prstGeom prst="rect">
            <a:avLst/>
          </a:prstGeom>
          <a:noFill/>
          <a:ln/>
        </p:spPr>
        <p:txBody>
          <a:bodyPr wrap="square" rtlCol="0" anchor="ctr"/>
          <a:lstStyle/>
          <a:p>
            <a:pPr indent="0" marL="0">
              <a:lnSpc>
                <a:spcPct val="140000"/>
              </a:lnSpc>
              <a:buNone/>
            </a:pPr>
            <a:r>
              <a:rPr lang="en-US" sz="950" dirty="0">
                <a:solidFill>
                  <a:srgbClr val="A8BECF"/>
                </a:solidFill>
                <a:latin typeface="Calibri" pitchFamily="34" charset="0"/>
                <a:ea typeface="Calibri" pitchFamily="34" charset="-122"/>
                <a:cs typeface="Calibri" pitchFamily="34" charset="-120"/>
              </a:rPr>
              <a:t>Verifies submitted tickets against stored records, applying signature checking to detect and reject duplicated or tampered entries.</a:t>
            </a:r>
            <a:endParaRPr lang="en-US" sz="950" dirty="0"/>
          </a:p>
        </p:txBody>
      </p:sp>
      <p:sp>
        <p:nvSpPr>
          <p:cNvPr id="25" name="Shape 23"/>
          <p:cNvSpPr/>
          <p:nvPr/>
        </p:nvSpPr>
        <p:spPr>
          <a:xfrm>
            <a:off x="4681728" y="3593592"/>
            <a:ext cx="4114800" cy="1389888"/>
          </a:xfrm>
          <a:prstGeom prst="rect">
            <a:avLst/>
          </a:prstGeom>
          <a:solidFill>
            <a:srgbClr val="243D5C"/>
          </a:solidFill>
          <a:ln w="9525">
            <a:solidFill>
              <a:srgbClr val="2E4A66"/>
            </a:solidFill>
            <a:prstDash val="solid"/>
          </a:ln>
        </p:spPr>
      </p:sp>
      <p:sp>
        <p:nvSpPr>
          <p:cNvPr id="26" name="Shape 24"/>
          <p:cNvSpPr/>
          <p:nvPr/>
        </p:nvSpPr>
        <p:spPr>
          <a:xfrm>
            <a:off x="4681728" y="3593592"/>
            <a:ext cx="54864" cy="1389888"/>
          </a:xfrm>
          <a:prstGeom prst="rect">
            <a:avLst/>
          </a:prstGeom>
          <a:solidFill>
            <a:srgbClr val="2563A8"/>
          </a:solidFill>
          <a:ln/>
        </p:spPr>
      </p:sp>
      <p:sp>
        <p:nvSpPr>
          <p:cNvPr id="27" name="Text 25"/>
          <p:cNvSpPr/>
          <p:nvPr/>
        </p:nvSpPr>
        <p:spPr>
          <a:xfrm>
            <a:off x="4846320" y="3721608"/>
            <a:ext cx="420624" cy="347472"/>
          </a:xfrm>
          <a:prstGeom prst="rect">
            <a:avLst/>
          </a:prstGeom>
          <a:noFill/>
          <a:ln/>
        </p:spPr>
        <p:txBody>
          <a:bodyPr wrap="square" rtlCol="0" anchor="ctr"/>
          <a:lstStyle/>
          <a:p>
            <a:pPr indent="0" marL="0">
              <a:buNone/>
            </a:pPr>
            <a:r>
              <a:rPr lang="en-US" sz="1600" b="1" dirty="0">
                <a:solidFill>
                  <a:srgbClr val="2563A8"/>
                </a:solidFill>
                <a:latin typeface="Calibri" pitchFamily="34" charset="0"/>
                <a:ea typeface="Calibri" pitchFamily="34" charset="-122"/>
                <a:cs typeface="Calibri" pitchFamily="34" charset="-120"/>
              </a:rPr>
              <a:t>04</a:t>
            </a:r>
            <a:endParaRPr lang="en-US" sz="1600" dirty="0"/>
          </a:p>
        </p:txBody>
      </p:sp>
      <p:sp>
        <p:nvSpPr>
          <p:cNvPr id="28" name="Text 26"/>
          <p:cNvSpPr/>
          <p:nvPr/>
        </p:nvSpPr>
        <p:spPr>
          <a:xfrm>
            <a:off x="5376672" y="3721608"/>
            <a:ext cx="3291840" cy="29260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Error Handling &amp; Logging</a:t>
            </a:r>
            <a:endParaRPr lang="en-US" sz="1150" dirty="0"/>
          </a:p>
        </p:txBody>
      </p:sp>
      <p:sp>
        <p:nvSpPr>
          <p:cNvPr id="29" name="Text 27"/>
          <p:cNvSpPr/>
          <p:nvPr/>
        </p:nvSpPr>
        <p:spPr>
          <a:xfrm>
            <a:off x="4846320" y="4123944"/>
            <a:ext cx="3840480" cy="768096"/>
          </a:xfrm>
          <a:prstGeom prst="rect">
            <a:avLst/>
          </a:prstGeom>
          <a:noFill/>
          <a:ln/>
        </p:spPr>
        <p:txBody>
          <a:bodyPr wrap="square" rtlCol="0" anchor="ctr"/>
          <a:lstStyle/>
          <a:p>
            <a:pPr indent="0" marL="0">
              <a:lnSpc>
                <a:spcPct val="140000"/>
              </a:lnSpc>
              <a:buNone/>
            </a:pPr>
            <a:r>
              <a:rPr lang="en-US" sz="950" dirty="0">
                <a:solidFill>
                  <a:srgbClr val="A8BECF"/>
                </a:solidFill>
                <a:latin typeface="Calibri" pitchFamily="34" charset="0"/>
                <a:ea typeface="Calibri" pitchFamily="34" charset="-122"/>
                <a:cs typeface="Calibri" pitchFamily="34" charset="-120"/>
              </a:rPr>
              <a:t>Provides centralised exception management with structured logging, routing events to AWS CloudWatch for operational monitoring and audit.</a:t>
            </a:r>
            <a:endParaRPr lang="en-US" sz="950" dirty="0"/>
          </a:p>
        </p:txBody>
      </p:sp>
      <p:sp>
        <p:nvSpPr>
          <p:cNvPr id="30" name="Text 28"/>
          <p:cNvSpPr/>
          <p:nvPr/>
        </p:nvSpPr>
        <p:spPr>
          <a:xfrm>
            <a:off x="8732520" y="4846320"/>
            <a:ext cx="320040" cy="201168"/>
          </a:xfrm>
          <a:prstGeom prst="rect">
            <a:avLst/>
          </a:prstGeom>
          <a:noFill/>
          <a:ln/>
        </p:spPr>
        <p:txBody>
          <a:bodyPr wrap="square" rtlCol="0" anchor="ctr"/>
          <a:lstStyle/>
          <a:p>
            <a:pPr algn="r" indent="0" marL="0">
              <a:buNone/>
            </a:pPr>
            <a:r>
              <a:rPr lang="en-US" sz="800" dirty="0">
                <a:solidFill>
                  <a:srgbClr val="8096AE"/>
                </a:solidFill>
                <a:latin typeface="Calibri" pitchFamily="34" charset="0"/>
                <a:ea typeface="Calibri" pitchFamily="34" charset="-122"/>
                <a:cs typeface="Calibri"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p:spPr>
      </p:sp>
      <p:sp>
        <p:nvSpPr>
          <p:cNvPr id="3" name="Shape 1"/>
          <p:cNvSpPr/>
          <p:nvPr/>
        </p:nvSpPr>
        <p:spPr>
          <a:xfrm>
            <a:off x="0" y="0"/>
            <a:ext cx="164592" cy="1005840"/>
          </a:xfrm>
          <a:prstGeom prst="rect">
            <a:avLst/>
          </a:prstGeom>
          <a:solidFill>
            <a:srgbClr val="2563A8"/>
          </a:solidFill>
          <a:ln/>
        </p:spPr>
      </p:sp>
      <p:sp>
        <p:nvSpPr>
          <p:cNvPr id="4" name="Text 2"/>
          <p:cNvSpPr/>
          <p:nvPr/>
        </p:nvSpPr>
        <p:spPr>
          <a:xfrm>
            <a:off x="411480" y="164592"/>
            <a:ext cx="8229600" cy="228600"/>
          </a:xfrm>
          <a:prstGeom prst="rect">
            <a:avLst/>
          </a:prstGeom>
          <a:noFill/>
          <a:ln/>
        </p:spPr>
        <p:txBody>
          <a:bodyPr wrap="square" rtlCol="0" anchor="ctr"/>
          <a:lstStyle/>
          <a:p>
            <a:pPr indent="0" marL="0">
              <a:buNone/>
            </a:pPr>
            <a:r>
              <a:rPr lang="en-US" sz="800" b="1" spc="150" kern="0" dirty="0">
                <a:solidFill>
                  <a:srgbClr val="8096AE"/>
                </a:solidFill>
                <a:latin typeface="Calibri" pitchFamily="34" charset="0"/>
                <a:ea typeface="Calibri" pitchFamily="34" charset="-122"/>
                <a:cs typeface="Calibri" pitchFamily="34" charset="-120"/>
              </a:rPr>
              <a:t>EXPECTED OUTCOMES</a:t>
            </a:r>
            <a:endParaRPr lang="en-US" sz="800" dirty="0"/>
          </a:p>
        </p:txBody>
      </p:sp>
      <p:sp>
        <p:nvSpPr>
          <p:cNvPr id="5" name="Text 3"/>
          <p:cNvSpPr/>
          <p:nvPr/>
        </p:nvSpPr>
        <p:spPr>
          <a:xfrm>
            <a:off x="411480" y="402336"/>
            <a:ext cx="8229600" cy="420624"/>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Project Deliverables and Learning Outcomes</a:t>
            </a:r>
            <a:endParaRPr lang="en-US" sz="2200" dirty="0"/>
          </a:p>
        </p:txBody>
      </p:sp>
      <p:sp>
        <p:nvSpPr>
          <p:cNvPr id="6" name="Shape 4"/>
          <p:cNvSpPr/>
          <p:nvPr/>
        </p:nvSpPr>
        <p:spPr>
          <a:xfrm>
            <a:off x="384048" y="1115568"/>
            <a:ext cx="2724912" cy="1664208"/>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7" name="Shape 5"/>
          <p:cNvSpPr/>
          <p:nvPr/>
        </p:nvSpPr>
        <p:spPr>
          <a:xfrm>
            <a:off x="384048" y="1115568"/>
            <a:ext cx="438912" cy="1664208"/>
          </a:xfrm>
          <a:prstGeom prst="rect">
            <a:avLst/>
          </a:prstGeom>
          <a:solidFill>
            <a:srgbClr val="1A2E4A"/>
          </a:solidFill>
          <a:ln/>
        </p:spPr>
      </p:sp>
      <p:sp>
        <p:nvSpPr>
          <p:cNvPr id="8" name="Text 6"/>
          <p:cNvSpPr/>
          <p:nvPr/>
        </p:nvSpPr>
        <p:spPr>
          <a:xfrm>
            <a:off x="384048" y="1618488"/>
            <a:ext cx="438912"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932688" y="1225296"/>
            <a:ext cx="2066544" cy="201168"/>
          </a:xfrm>
          <a:prstGeom prst="rect">
            <a:avLst/>
          </a:prstGeom>
          <a:noFill/>
          <a:ln/>
        </p:spPr>
        <p:txBody>
          <a:bodyPr wrap="square" rtlCol="0" anchor="ctr"/>
          <a:lstStyle/>
          <a:p>
            <a:pPr indent="0" marL="0">
              <a:buNone/>
            </a:pPr>
            <a:r>
              <a:rPr lang="en-US" sz="700" b="1" spc="80" kern="0" dirty="0">
                <a:solidFill>
                  <a:srgbClr val="8096AE"/>
                </a:solidFill>
                <a:latin typeface="Calibri" pitchFamily="34" charset="0"/>
                <a:ea typeface="Calibri" pitchFamily="34" charset="-122"/>
                <a:cs typeface="Calibri" pitchFamily="34" charset="-120"/>
              </a:rPr>
              <a:t>DELIVERABLE</a:t>
            </a:r>
            <a:endParaRPr lang="en-US" sz="700" dirty="0"/>
          </a:p>
        </p:txBody>
      </p:sp>
      <p:sp>
        <p:nvSpPr>
          <p:cNvPr id="10" name="Text 8"/>
          <p:cNvSpPr/>
          <p:nvPr/>
        </p:nvSpPr>
        <p:spPr>
          <a:xfrm>
            <a:off x="932688" y="1426464"/>
            <a:ext cx="2066544" cy="420624"/>
          </a:xfrm>
          <a:prstGeom prst="rect">
            <a:avLst/>
          </a:prstGeom>
          <a:noFill/>
          <a:ln/>
        </p:spPr>
        <p:txBody>
          <a:bodyPr wrap="square" rtlCol="0" anchor="ctr"/>
          <a:lstStyle/>
          <a:p>
            <a:pPr indent="0" marL="0">
              <a:lnSpc>
                <a:spcPct val="110000"/>
              </a:lnSpc>
              <a:buNone/>
            </a:pPr>
            <a:r>
              <a:rPr lang="en-US" sz="1100" b="1" dirty="0">
                <a:solidFill>
                  <a:srgbClr val="1A2E4A"/>
                </a:solidFill>
                <a:latin typeface="Calibri" pitchFamily="34" charset="0"/>
                <a:ea typeface="Calibri" pitchFamily="34" charset="-122"/>
                <a:cs typeface="Calibri" pitchFamily="34" charset="-120"/>
              </a:rPr>
              <a:t>Fully Deployed Cloud Application</a:t>
            </a:r>
            <a:endParaRPr lang="en-US" sz="1100" dirty="0"/>
          </a:p>
        </p:txBody>
      </p:sp>
      <p:sp>
        <p:nvSpPr>
          <p:cNvPr id="11" name="Text 9"/>
          <p:cNvSpPr/>
          <p:nvPr/>
        </p:nvSpPr>
        <p:spPr>
          <a:xfrm>
            <a:off x="932688" y="1883664"/>
            <a:ext cx="2066544" cy="804672"/>
          </a:xfrm>
          <a:prstGeom prst="rect">
            <a:avLst/>
          </a:prstGeom>
          <a:noFill/>
          <a:ln/>
        </p:spPr>
        <p:txBody>
          <a:bodyPr wrap="square" rtlCol="0" anchor="ctr"/>
          <a:lstStyle/>
          <a:p>
            <a:pPr indent="0" marL="0">
              <a:lnSpc>
                <a:spcPct val="135000"/>
              </a:lnSpc>
              <a:buNone/>
            </a:pPr>
            <a:r>
              <a:rPr lang="en-US" sz="950" dirty="0">
                <a:solidFill>
                  <a:srgbClr val="4A5D72"/>
                </a:solidFill>
                <a:latin typeface="Calibri" pitchFamily="34" charset="0"/>
                <a:ea typeface="Calibri" pitchFamily="34" charset="-122"/>
                <a:cs typeface="Calibri" pitchFamily="34" charset="-120"/>
              </a:rPr>
              <a:t>A working, publicly accessible event management system deployed on AWS with all components fully operational.</a:t>
            </a:r>
            <a:endParaRPr lang="en-US" sz="950" dirty="0"/>
          </a:p>
        </p:txBody>
      </p:sp>
      <p:sp>
        <p:nvSpPr>
          <p:cNvPr id="12" name="Shape 10"/>
          <p:cNvSpPr/>
          <p:nvPr/>
        </p:nvSpPr>
        <p:spPr>
          <a:xfrm>
            <a:off x="3264408" y="1115568"/>
            <a:ext cx="2724912" cy="1664208"/>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3264408" y="1115568"/>
            <a:ext cx="438912" cy="1664208"/>
          </a:xfrm>
          <a:prstGeom prst="rect">
            <a:avLst/>
          </a:prstGeom>
          <a:solidFill>
            <a:srgbClr val="1A2E4A"/>
          </a:solidFill>
          <a:ln/>
        </p:spPr>
      </p:sp>
      <p:sp>
        <p:nvSpPr>
          <p:cNvPr id="14" name="Text 12"/>
          <p:cNvSpPr/>
          <p:nvPr/>
        </p:nvSpPr>
        <p:spPr>
          <a:xfrm>
            <a:off x="3264408" y="1618488"/>
            <a:ext cx="438912"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Text 13"/>
          <p:cNvSpPr/>
          <p:nvPr/>
        </p:nvSpPr>
        <p:spPr>
          <a:xfrm>
            <a:off x="3813048" y="1225296"/>
            <a:ext cx="2066544" cy="201168"/>
          </a:xfrm>
          <a:prstGeom prst="rect">
            <a:avLst/>
          </a:prstGeom>
          <a:noFill/>
          <a:ln/>
        </p:spPr>
        <p:txBody>
          <a:bodyPr wrap="square" rtlCol="0" anchor="ctr"/>
          <a:lstStyle/>
          <a:p>
            <a:pPr indent="0" marL="0">
              <a:buNone/>
            </a:pPr>
            <a:r>
              <a:rPr lang="en-US" sz="700" b="1" spc="80" kern="0" dirty="0">
                <a:solidFill>
                  <a:srgbClr val="8096AE"/>
                </a:solidFill>
                <a:latin typeface="Calibri" pitchFamily="34" charset="0"/>
                <a:ea typeface="Calibri" pitchFamily="34" charset="-122"/>
                <a:cs typeface="Calibri" pitchFamily="34" charset="-120"/>
              </a:rPr>
              <a:t>DELIVERABLE</a:t>
            </a:r>
            <a:endParaRPr lang="en-US" sz="700" dirty="0"/>
          </a:p>
        </p:txBody>
      </p:sp>
      <p:sp>
        <p:nvSpPr>
          <p:cNvPr id="16" name="Text 14"/>
          <p:cNvSpPr/>
          <p:nvPr/>
        </p:nvSpPr>
        <p:spPr>
          <a:xfrm>
            <a:off x="3813048" y="1426464"/>
            <a:ext cx="2066544" cy="420624"/>
          </a:xfrm>
          <a:prstGeom prst="rect">
            <a:avLst/>
          </a:prstGeom>
          <a:noFill/>
          <a:ln/>
        </p:spPr>
        <p:txBody>
          <a:bodyPr wrap="square" rtlCol="0" anchor="ctr"/>
          <a:lstStyle/>
          <a:p>
            <a:pPr indent="0" marL="0">
              <a:lnSpc>
                <a:spcPct val="110000"/>
              </a:lnSpc>
              <a:buNone/>
            </a:pPr>
            <a:r>
              <a:rPr lang="en-US" sz="1100" b="1" dirty="0">
                <a:solidFill>
                  <a:srgbClr val="1A2E4A"/>
                </a:solidFill>
                <a:latin typeface="Calibri" pitchFamily="34" charset="0"/>
                <a:ea typeface="Calibri" pitchFamily="34" charset="-122"/>
                <a:cs typeface="Calibri" pitchFamily="34" charset="-120"/>
              </a:rPr>
              <a:t>Real-Time QR Validation Workflow</a:t>
            </a:r>
            <a:endParaRPr lang="en-US" sz="1100" dirty="0"/>
          </a:p>
        </p:txBody>
      </p:sp>
      <p:sp>
        <p:nvSpPr>
          <p:cNvPr id="17" name="Text 15"/>
          <p:cNvSpPr/>
          <p:nvPr/>
        </p:nvSpPr>
        <p:spPr>
          <a:xfrm>
            <a:off x="3813048" y="1883664"/>
            <a:ext cx="2066544" cy="804672"/>
          </a:xfrm>
          <a:prstGeom prst="rect">
            <a:avLst/>
          </a:prstGeom>
          <a:noFill/>
          <a:ln/>
        </p:spPr>
        <p:txBody>
          <a:bodyPr wrap="square" rtlCol="0" anchor="ctr"/>
          <a:lstStyle/>
          <a:p>
            <a:pPr indent="0" marL="0">
              <a:lnSpc>
                <a:spcPct val="135000"/>
              </a:lnSpc>
              <a:buNone/>
            </a:pPr>
            <a:r>
              <a:rPr lang="en-US" sz="950" dirty="0">
                <a:solidFill>
                  <a:srgbClr val="4A5D72"/>
                </a:solidFill>
                <a:latin typeface="Calibri" pitchFamily="34" charset="0"/>
                <a:ea typeface="Calibri" pitchFamily="34" charset="-122"/>
                <a:cs typeface="Calibri" pitchFamily="34" charset="-120"/>
              </a:rPr>
              <a:t>End-to-end tested pipeline covering ticket generation, email delivery, scanning, and attendance recording.</a:t>
            </a:r>
            <a:endParaRPr lang="en-US" sz="950" dirty="0"/>
          </a:p>
        </p:txBody>
      </p:sp>
      <p:sp>
        <p:nvSpPr>
          <p:cNvPr id="18" name="Shape 16"/>
          <p:cNvSpPr/>
          <p:nvPr/>
        </p:nvSpPr>
        <p:spPr>
          <a:xfrm>
            <a:off x="6144768" y="1115568"/>
            <a:ext cx="2724912" cy="1664208"/>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19" name="Shape 17"/>
          <p:cNvSpPr/>
          <p:nvPr/>
        </p:nvSpPr>
        <p:spPr>
          <a:xfrm>
            <a:off x="6144768" y="1115568"/>
            <a:ext cx="438912" cy="1664208"/>
          </a:xfrm>
          <a:prstGeom prst="rect">
            <a:avLst/>
          </a:prstGeom>
          <a:solidFill>
            <a:srgbClr val="1A2E4A"/>
          </a:solidFill>
          <a:ln/>
        </p:spPr>
      </p:sp>
      <p:sp>
        <p:nvSpPr>
          <p:cNvPr id="20" name="Text 18"/>
          <p:cNvSpPr/>
          <p:nvPr/>
        </p:nvSpPr>
        <p:spPr>
          <a:xfrm>
            <a:off x="6144768" y="1618488"/>
            <a:ext cx="438912"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Text 19"/>
          <p:cNvSpPr/>
          <p:nvPr/>
        </p:nvSpPr>
        <p:spPr>
          <a:xfrm>
            <a:off x="6693408" y="1225296"/>
            <a:ext cx="2066544" cy="201168"/>
          </a:xfrm>
          <a:prstGeom prst="rect">
            <a:avLst/>
          </a:prstGeom>
          <a:noFill/>
          <a:ln/>
        </p:spPr>
        <p:txBody>
          <a:bodyPr wrap="square" rtlCol="0" anchor="ctr"/>
          <a:lstStyle/>
          <a:p>
            <a:pPr indent="0" marL="0">
              <a:buNone/>
            </a:pPr>
            <a:r>
              <a:rPr lang="en-US" sz="700" b="1" spc="80" kern="0" dirty="0">
                <a:solidFill>
                  <a:srgbClr val="8096AE"/>
                </a:solidFill>
                <a:latin typeface="Calibri" pitchFamily="34" charset="0"/>
                <a:ea typeface="Calibri" pitchFamily="34" charset="-122"/>
                <a:cs typeface="Calibri" pitchFamily="34" charset="-120"/>
              </a:rPr>
              <a:t>TECHNICAL</a:t>
            </a:r>
            <a:endParaRPr lang="en-US" sz="700" dirty="0"/>
          </a:p>
        </p:txBody>
      </p:sp>
      <p:sp>
        <p:nvSpPr>
          <p:cNvPr id="22" name="Text 20"/>
          <p:cNvSpPr/>
          <p:nvPr/>
        </p:nvSpPr>
        <p:spPr>
          <a:xfrm>
            <a:off x="6693408" y="1426464"/>
            <a:ext cx="2066544" cy="420624"/>
          </a:xfrm>
          <a:prstGeom prst="rect">
            <a:avLst/>
          </a:prstGeom>
          <a:noFill/>
          <a:ln/>
        </p:spPr>
        <p:txBody>
          <a:bodyPr wrap="square" rtlCol="0" anchor="ctr"/>
          <a:lstStyle/>
          <a:p>
            <a:pPr indent="0" marL="0">
              <a:lnSpc>
                <a:spcPct val="110000"/>
              </a:lnSpc>
              <a:buNone/>
            </a:pPr>
            <a:r>
              <a:rPr lang="en-US" sz="1100" b="1" dirty="0">
                <a:solidFill>
                  <a:srgbClr val="1A2E4A"/>
                </a:solidFill>
                <a:latin typeface="Calibri" pitchFamily="34" charset="0"/>
                <a:ea typeface="Calibri" pitchFamily="34" charset="-122"/>
                <a:cs typeface="Calibri" pitchFamily="34" charset="-120"/>
              </a:rPr>
              <a:t>Multi-Service AWS Integration</a:t>
            </a:r>
            <a:endParaRPr lang="en-US" sz="1100" dirty="0"/>
          </a:p>
        </p:txBody>
      </p:sp>
      <p:sp>
        <p:nvSpPr>
          <p:cNvPr id="23" name="Text 21"/>
          <p:cNvSpPr/>
          <p:nvPr/>
        </p:nvSpPr>
        <p:spPr>
          <a:xfrm>
            <a:off x="6693408" y="1883664"/>
            <a:ext cx="2066544" cy="804672"/>
          </a:xfrm>
          <a:prstGeom prst="rect">
            <a:avLst/>
          </a:prstGeom>
          <a:noFill/>
          <a:ln/>
        </p:spPr>
        <p:txBody>
          <a:bodyPr wrap="square" rtlCol="0" anchor="ctr"/>
          <a:lstStyle/>
          <a:p>
            <a:pPr indent="0" marL="0">
              <a:lnSpc>
                <a:spcPct val="135000"/>
              </a:lnSpc>
              <a:buNone/>
            </a:pPr>
            <a:r>
              <a:rPr lang="en-US" sz="950" dirty="0">
                <a:solidFill>
                  <a:srgbClr val="4A5D72"/>
                </a:solidFill>
                <a:latin typeface="Calibri" pitchFamily="34" charset="0"/>
                <a:ea typeface="Calibri" pitchFamily="34" charset="-122"/>
                <a:cs typeface="Calibri" pitchFamily="34" charset="-120"/>
              </a:rPr>
              <a:t>Demonstrable programmatic use of all eight AWS services via SDK, with documented architecture diagrams.</a:t>
            </a:r>
            <a:endParaRPr lang="en-US" sz="950" dirty="0"/>
          </a:p>
        </p:txBody>
      </p:sp>
      <p:sp>
        <p:nvSpPr>
          <p:cNvPr id="24" name="Shape 22"/>
          <p:cNvSpPr/>
          <p:nvPr/>
        </p:nvSpPr>
        <p:spPr>
          <a:xfrm>
            <a:off x="384048" y="2926080"/>
            <a:ext cx="2724912" cy="1664208"/>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25" name="Shape 23"/>
          <p:cNvSpPr/>
          <p:nvPr/>
        </p:nvSpPr>
        <p:spPr>
          <a:xfrm>
            <a:off x="384048" y="2926080"/>
            <a:ext cx="438912" cy="1664208"/>
          </a:xfrm>
          <a:prstGeom prst="rect">
            <a:avLst/>
          </a:prstGeom>
          <a:solidFill>
            <a:srgbClr val="1A2E4A"/>
          </a:solidFill>
          <a:ln/>
        </p:spPr>
      </p:sp>
      <p:sp>
        <p:nvSpPr>
          <p:cNvPr id="26" name="Text 24"/>
          <p:cNvSpPr/>
          <p:nvPr/>
        </p:nvSpPr>
        <p:spPr>
          <a:xfrm>
            <a:off x="384048" y="3429000"/>
            <a:ext cx="438912"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7" name="Text 25"/>
          <p:cNvSpPr/>
          <p:nvPr/>
        </p:nvSpPr>
        <p:spPr>
          <a:xfrm>
            <a:off x="932688" y="3035808"/>
            <a:ext cx="2066544" cy="201168"/>
          </a:xfrm>
          <a:prstGeom prst="rect">
            <a:avLst/>
          </a:prstGeom>
          <a:noFill/>
          <a:ln/>
        </p:spPr>
        <p:txBody>
          <a:bodyPr wrap="square" rtlCol="0" anchor="ctr"/>
          <a:lstStyle/>
          <a:p>
            <a:pPr indent="0" marL="0">
              <a:buNone/>
            </a:pPr>
            <a:r>
              <a:rPr lang="en-US" sz="700" b="1" spc="80" kern="0" dirty="0">
                <a:solidFill>
                  <a:srgbClr val="8096AE"/>
                </a:solidFill>
                <a:latin typeface="Calibri" pitchFamily="34" charset="0"/>
                <a:ea typeface="Calibri" pitchFamily="34" charset="-122"/>
                <a:cs typeface="Calibri" pitchFamily="34" charset="-120"/>
              </a:rPr>
              <a:t>ACADEMIC</a:t>
            </a:r>
            <a:endParaRPr lang="en-US" sz="700" dirty="0"/>
          </a:p>
        </p:txBody>
      </p:sp>
      <p:sp>
        <p:nvSpPr>
          <p:cNvPr id="28" name="Text 26"/>
          <p:cNvSpPr/>
          <p:nvPr/>
        </p:nvSpPr>
        <p:spPr>
          <a:xfrm>
            <a:off x="932688" y="3236976"/>
            <a:ext cx="2066544" cy="420624"/>
          </a:xfrm>
          <a:prstGeom prst="rect">
            <a:avLst/>
          </a:prstGeom>
          <a:noFill/>
          <a:ln/>
        </p:spPr>
        <p:txBody>
          <a:bodyPr wrap="square" rtlCol="0" anchor="ctr"/>
          <a:lstStyle/>
          <a:p>
            <a:pPr indent="0" marL="0">
              <a:lnSpc>
                <a:spcPct val="110000"/>
              </a:lnSpc>
              <a:buNone/>
            </a:pPr>
            <a:r>
              <a:rPr lang="en-US" sz="1100" b="1" dirty="0">
                <a:solidFill>
                  <a:srgbClr val="1A2E4A"/>
                </a:solidFill>
                <a:latin typeface="Calibri" pitchFamily="34" charset="0"/>
                <a:ea typeface="Calibri" pitchFamily="34" charset="-122"/>
                <a:cs typeface="Calibri" pitchFamily="34" charset="-120"/>
              </a:rPr>
              <a:t>Cloud Architecture Documentation</a:t>
            </a:r>
            <a:endParaRPr lang="en-US" sz="1100" dirty="0"/>
          </a:p>
        </p:txBody>
      </p:sp>
      <p:sp>
        <p:nvSpPr>
          <p:cNvPr id="29" name="Text 27"/>
          <p:cNvSpPr/>
          <p:nvPr/>
        </p:nvSpPr>
        <p:spPr>
          <a:xfrm>
            <a:off x="932688" y="3694176"/>
            <a:ext cx="2066544" cy="804672"/>
          </a:xfrm>
          <a:prstGeom prst="rect">
            <a:avLst/>
          </a:prstGeom>
          <a:noFill/>
          <a:ln/>
        </p:spPr>
        <p:txBody>
          <a:bodyPr wrap="square" rtlCol="0" anchor="ctr"/>
          <a:lstStyle/>
          <a:p>
            <a:pPr indent="0" marL="0">
              <a:lnSpc>
                <a:spcPct val="135000"/>
              </a:lnSpc>
              <a:buNone/>
            </a:pPr>
            <a:r>
              <a:rPr lang="en-US" sz="950" dirty="0">
                <a:solidFill>
                  <a:srgbClr val="4A5D72"/>
                </a:solidFill>
                <a:latin typeface="Calibri" pitchFamily="34" charset="0"/>
                <a:ea typeface="Calibri" pitchFamily="34" charset="-122"/>
                <a:cs typeface="Calibri" pitchFamily="34" charset="-120"/>
              </a:rPr>
              <a:t>Complete design documentation including diagrams, cost estimation, and scalability analysis.</a:t>
            </a:r>
            <a:endParaRPr lang="en-US" sz="950" dirty="0"/>
          </a:p>
        </p:txBody>
      </p:sp>
      <p:sp>
        <p:nvSpPr>
          <p:cNvPr id="30" name="Shape 28"/>
          <p:cNvSpPr/>
          <p:nvPr/>
        </p:nvSpPr>
        <p:spPr>
          <a:xfrm>
            <a:off x="3264408" y="2926080"/>
            <a:ext cx="2724912" cy="1664208"/>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31" name="Shape 29"/>
          <p:cNvSpPr/>
          <p:nvPr/>
        </p:nvSpPr>
        <p:spPr>
          <a:xfrm>
            <a:off x="3264408" y="2926080"/>
            <a:ext cx="438912" cy="1664208"/>
          </a:xfrm>
          <a:prstGeom prst="rect">
            <a:avLst/>
          </a:prstGeom>
          <a:solidFill>
            <a:srgbClr val="1A2E4A"/>
          </a:solidFill>
          <a:ln/>
        </p:spPr>
      </p:sp>
      <p:sp>
        <p:nvSpPr>
          <p:cNvPr id="32" name="Text 30"/>
          <p:cNvSpPr/>
          <p:nvPr/>
        </p:nvSpPr>
        <p:spPr>
          <a:xfrm>
            <a:off x="3264408" y="3429000"/>
            <a:ext cx="438912"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3" name="Text 31"/>
          <p:cNvSpPr/>
          <p:nvPr/>
        </p:nvSpPr>
        <p:spPr>
          <a:xfrm>
            <a:off x="3813048" y="3035808"/>
            <a:ext cx="2066544" cy="201168"/>
          </a:xfrm>
          <a:prstGeom prst="rect">
            <a:avLst/>
          </a:prstGeom>
          <a:noFill/>
          <a:ln/>
        </p:spPr>
        <p:txBody>
          <a:bodyPr wrap="square" rtlCol="0" anchor="ctr"/>
          <a:lstStyle/>
          <a:p>
            <a:pPr indent="0" marL="0">
              <a:buNone/>
            </a:pPr>
            <a:r>
              <a:rPr lang="en-US" sz="700" b="1" spc="80" kern="0" dirty="0">
                <a:solidFill>
                  <a:srgbClr val="8096AE"/>
                </a:solidFill>
                <a:latin typeface="Calibri" pitchFamily="34" charset="0"/>
                <a:ea typeface="Calibri" pitchFamily="34" charset="-122"/>
                <a:cs typeface="Calibri" pitchFamily="34" charset="-120"/>
              </a:rPr>
              <a:t>ACADEMIC</a:t>
            </a:r>
            <a:endParaRPr lang="en-US" sz="700" dirty="0"/>
          </a:p>
        </p:txBody>
      </p:sp>
      <p:sp>
        <p:nvSpPr>
          <p:cNvPr id="34" name="Text 32"/>
          <p:cNvSpPr/>
          <p:nvPr/>
        </p:nvSpPr>
        <p:spPr>
          <a:xfrm>
            <a:off x="3813048" y="3236976"/>
            <a:ext cx="2066544" cy="420624"/>
          </a:xfrm>
          <a:prstGeom prst="rect">
            <a:avLst/>
          </a:prstGeom>
          <a:noFill/>
          <a:ln/>
        </p:spPr>
        <p:txBody>
          <a:bodyPr wrap="square" rtlCol="0" anchor="ctr"/>
          <a:lstStyle/>
          <a:p>
            <a:pPr indent="0" marL="0">
              <a:lnSpc>
                <a:spcPct val="110000"/>
              </a:lnSpc>
              <a:buNone/>
            </a:pPr>
            <a:r>
              <a:rPr lang="en-US" sz="1100" b="1" dirty="0">
                <a:solidFill>
                  <a:srgbClr val="1A2E4A"/>
                </a:solidFill>
                <a:latin typeface="Calibri" pitchFamily="34" charset="0"/>
                <a:ea typeface="Calibri" pitchFamily="34" charset="-122"/>
                <a:cs typeface="Calibri" pitchFamily="34" charset="-120"/>
              </a:rPr>
              <a:t>Security and Compliance Report</a:t>
            </a:r>
            <a:endParaRPr lang="en-US" sz="1100" dirty="0"/>
          </a:p>
        </p:txBody>
      </p:sp>
      <p:sp>
        <p:nvSpPr>
          <p:cNvPr id="35" name="Text 33"/>
          <p:cNvSpPr/>
          <p:nvPr/>
        </p:nvSpPr>
        <p:spPr>
          <a:xfrm>
            <a:off x="3813048" y="3694176"/>
            <a:ext cx="2066544" cy="804672"/>
          </a:xfrm>
          <a:prstGeom prst="rect">
            <a:avLst/>
          </a:prstGeom>
          <a:noFill/>
          <a:ln/>
        </p:spPr>
        <p:txBody>
          <a:bodyPr wrap="square" rtlCol="0" anchor="ctr"/>
          <a:lstStyle/>
          <a:p>
            <a:pPr indent="0" marL="0">
              <a:lnSpc>
                <a:spcPct val="135000"/>
              </a:lnSpc>
              <a:buNone/>
            </a:pPr>
            <a:r>
              <a:rPr lang="en-US" sz="950" dirty="0">
                <a:solidFill>
                  <a:srgbClr val="4A5D72"/>
                </a:solidFill>
                <a:latin typeface="Calibri" pitchFamily="34" charset="0"/>
                <a:ea typeface="Calibri" pitchFamily="34" charset="-122"/>
                <a:cs typeface="Calibri" pitchFamily="34" charset="-120"/>
              </a:rPr>
              <a:t>Analysis of authentication flows, data encryption standards, and cloud security best practices applied.</a:t>
            </a:r>
            <a:endParaRPr lang="en-US" sz="950" dirty="0"/>
          </a:p>
        </p:txBody>
      </p:sp>
      <p:sp>
        <p:nvSpPr>
          <p:cNvPr id="36" name="Shape 34"/>
          <p:cNvSpPr/>
          <p:nvPr/>
        </p:nvSpPr>
        <p:spPr>
          <a:xfrm>
            <a:off x="6144768" y="2926080"/>
            <a:ext cx="2724912" cy="1664208"/>
          </a:xfrm>
          <a:prstGeom prst="rect">
            <a:avLst/>
          </a:prstGeom>
          <a:solidFill>
            <a:srgbClr val="FFFFFF"/>
          </a:solidFill>
          <a:ln w="9525">
            <a:solidFill>
              <a:srgbClr val="D4DCE8"/>
            </a:solidFill>
            <a:prstDash val="solid"/>
          </a:ln>
          <a:effectLst>
            <a:outerShdw sx="100000" sy="100000" kx="0" ky="0" algn="bl" rotWithShape="0" blurRad="101600" dist="25400" dir="8100000">
              <a:srgbClr val="000000">
                <a:alpha val="8000"/>
              </a:srgbClr>
            </a:outerShdw>
          </a:effectLst>
        </p:spPr>
      </p:sp>
      <p:sp>
        <p:nvSpPr>
          <p:cNvPr id="37" name="Shape 35"/>
          <p:cNvSpPr/>
          <p:nvPr/>
        </p:nvSpPr>
        <p:spPr>
          <a:xfrm>
            <a:off x="6144768" y="2926080"/>
            <a:ext cx="438912" cy="1664208"/>
          </a:xfrm>
          <a:prstGeom prst="rect">
            <a:avLst/>
          </a:prstGeom>
          <a:solidFill>
            <a:srgbClr val="1A2E4A"/>
          </a:solidFill>
          <a:ln/>
        </p:spPr>
      </p:sp>
      <p:sp>
        <p:nvSpPr>
          <p:cNvPr id="38" name="Text 36"/>
          <p:cNvSpPr/>
          <p:nvPr/>
        </p:nvSpPr>
        <p:spPr>
          <a:xfrm>
            <a:off x="6144768" y="3429000"/>
            <a:ext cx="438912"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39" name="Text 37"/>
          <p:cNvSpPr/>
          <p:nvPr/>
        </p:nvSpPr>
        <p:spPr>
          <a:xfrm>
            <a:off x="6693408" y="3035808"/>
            <a:ext cx="2066544" cy="201168"/>
          </a:xfrm>
          <a:prstGeom prst="rect">
            <a:avLst/>
          </a:prstGeom>
          <a:noFill/>
          <a:ln/>
        </p:spPr>
        <p:txBody>
          <a:bodyPr wrap="square" rtlCol="0" anchor="ctr"/>
          <a:lstStyle/>
          <a:p>
            <a:pPr indent="0" marL="0">
              <a:buNone/>
            </a:pPr>
            <a:r>
              <a:rPr lang="en-US" sz="700" b="1" spc="80" kern="0" dirty="0">
                <a:solidFill>
                  <a:srgbClr val="8096AE"/>
                </a:solidFill>
                <a:latin typeface="Calibri" pitchFamily="34" charset="0"/>
                <a:ea typeface="Calibri" pitchFamily="34" charset="-122"/>
                <a:cs typeface="Calibri" pitchFamily="34" charset="-120"/>
              </a:rPr>
              <a:t>LEARNING</a:t>
            </a:r>
            <a:endParaRPr lang="en-US" sz="700" dirty="0"/>
          </a:p>
        </p:txBody>
      </p:sp>
      <p:sp>
        <p:nvSpPr>
          <p:cNvPr id="40" name="Text 38"/>
          <p:cNvSpPr/>
          <p:nvPr/>
        </p:nvSpPr>
        <p:spPr>
          <a:xfrm>
            <a:off x="6693408" y="3236976"/>
            <a:ext cx="2066544" cy="420624"/>
          </a:xfrm>
          <a:prstGeom prst="rect">
            <a:avLst/>
          </a:prstGeom>
          <a:noFill/>
          <a:ln/>
        </p:spPr>
        <p:txBody>
          <a:bodyPr wrap="square" rtlCol="0" anchor="ctr"/>
          <a:lstStyle/>
          <a:p>
            <a:pPr indent="0" marL="0">
              <a:lnSpc>
                <a:spcPct val="110000"/>
              </a:lnSpc>
              <a:buNone/>
            </a:pPr>
            <a:r>
              <a:rPr lang="en-US" sz="1100" b="1" dirty="0">
                <a:solidFill>
                  <a:srgbClr val="1A2E4A"/>
                </a:solidFill>
                <a:latin typeface="Calibri" pitchFamily="34" charset="0"/>
                <a:ea typeface="Calibri" pitchFamily="34" charset="-122"/>
                <a:cs typeface="Calibri" pitchFamily="34" charset="-120"/>
              </a:rPr>
              <a:t>Practical Cloud Engineering Skills</a:t>
            </a:r>
            <a:endParaRPr lang="en-US" sz="1100" dirty="0"/>
          </a:p>
        </p:txBody>
      </p:sp>
      <p:sp>
        <p:nvSpPr>
          <p:cNvPr id="41" name="Text 39"/>
          <p:cNvSpPr/>
          <p:nvPr/>
        </p:nvSpPr>
        <p:spPr>
          <a:xfrm>
            <a:off x="6693408" y="3694176"/>
            <a:ext cx="2066544" cy="804672"/>
          </a:xfrm>
          <a:prstGeom prst="rect">
            <a:avLst/>
          </a:prstGeom>
          <a:noFill/>
          <a:ln/>
        </p:spPr>
        <p:txBody>
          <a:bodyPr wrap="square" rtlCol="0" anchor="ctr"/>
          <a:lstStyle/>
          <a:p>
            <a:pPr indent="0" marL="0">
              <a:lnSpc>
                <a:spcPct val="135000"/>
              </a:lnSpc>
              <a:buNone/>
            </a:pPr>
            <a:r>
              <a:rPr lang="en-US" sz="950" dirty="0">
                <a:solidFill>
                  <a:srgbClr val="4A5D72"/>
                </a:solidFill>
                <a:latin typeface="Calibri" pitchFamily="34" charset="0"/>
                <a:ea typeface="Calibri" pitchFamily="34" charset="-122"/>
                <a:cs typeface="Calibri" pitchFamily="34" charset="-120"/>
              </a:rPr>
              <a:t>Hands-on competency in scalability, CI/CD pipeline setup, cloud monitoring, and infrastructure-as-code.</a:t>
            </a:r>
            <a:endParaRPr lang="en-US" sz="950" dirty="0"/>
          </a:p>
        </p:txBody>
      </p:sp>
      <p:sp>
        <p:nvSpPr>
          <p:cNvPr id="42" name="Text 40"/>
          <p:cNvSpPr/>
          <p:nvPr/>
        </p:nvSpPr>
        <p:spPr>
          <a:xfrm>
            <a:off x="8732520" y="4846320"/>
            <a:ext cx="320040" cy="201168"/>
          </a:xfrm>
          <a:prstGeom prst="rect">
            <a:avLst/>
          </a:prstGeom>
          <a:noFill/>
          <a:ln/>
        </p:spPr>
        <p:txBody>
          <a:bodyPr wrap="square" rtlCol="0" anchor="ctr"/>
          <a:lstStyle/>
          <a:p>
            <a:pPr algn="r" indent="0" marL="0">
              <a:buNone/>
            </a:pPr>
            <a:r>
              <a:rPr lang="en-US" sz="800" dirty="0">
                <a:solidFill>
                  <a:srgbClr val="8096AE"/>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563A8"/>
          </a:solidFill>
          <a:ln/>
        </p:spPr>
      </p:sp>
      <p:sp>
        <p:nvSpPr>
          <p:cNvPr id="3" name="Shape 1"/>
          <p:cNvSpPr/>
          <p:nvPr/>
        </p:nvSpPr>
        <p:spPr>
          <a:xfrm>
            <a:off x="164592" y="0"/>
            <a:ext cx="8979408" cy="384048"/>
          </a:xfrm>
          <a:prstGeom prst="rect">
            <a:avLst/>
          </a:prstGeom>
          <a:solidFill>
            <a:srgbClr val="243D5C"/>
          </a:solidFill>
          <a:ln/>
        </p:spPr>
      </p:sp>
      <p:sp>
        <p:nvSpPr>
          <p:cNvPr id="4" name="Text 2"/>
          <p:cNvSpPr/>
          <p:nvPr/>
        </p:nvSpPr>
        <p:spPr>
          <a:xfrm>
            <a:off x="411480" y="54864"/>
            <a:ext cx="8503920" cy="256032"/>
          </a:xfrm>
          <a:prstGeom prst="rect">
            <a:avLst/>
          </a:prstGeom>
          <a:noFill/>
          <a:ln/>
        </p:spPr>
        <p:txBody>
          <a:bodyPr wrap="square" rtlCol="0" anchor="ctr"/>
          <a:lstStyle/>
          <a:p>
            <a:pPr indent="0" marL="0">
              <a:buNone/>
            </a:pPr>
            <a:r>
              <a:rPr lang="en-US" sz="750" spc="50" kern="0" dirty="0">
                <a:solidFill>
                  <a:srgbClr val="8096AE"/>
                </a:solidFill>
                <a:latin typeface="Calibri" pitchFamily="34" charset="0"/>
                <a:ea typeface="Calibri" pitchFamily="34" charset="-122"/>
                <a:cs typeface="Calibri" pitchFamily="34" charset="-120"/>
              </a:rPr>
              <a:t>CLOUD PLATFORM PROGRAMMING  —  MSc CLOUD COMPUTING</a:t>
            </a:r>
            <a:endParaRPr lang="en-US" sz="750" dirty="0"/>
          </a:p>
        </p:txBody>
      </p:sp>
      <p:sp>
        <p:nvSpPr>
          <p:cNvPr id="5" name="Text 3"/>
          <p:cNvSpPr/>
          <p:nvPr/>
        </p:nvSpPr>
        <p:spPr>
          <a:xfrm>
            <a:off x="411480" y="530352"/>
            <a:ext cx="8229600" cy="621792"/>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Conclusion</a:t>
            </a:r>
            <a:endParaRPr lang="en-US" sz="3800" dirty="0"/>
          </a:p>
        </p:txBody>
      </p:sp>
      <p:sp>
        <p:nvSpPr>
          <p:cNvPr id="6" name="Shape 4"/>
          <p:cNvSpPr/>
          <p:nvPr/>
        </p:nvSpPr>
        <p:spPr>
          <a:xfrm>
            <a:off x="411480" y="1207008"/>
            <a:ext cx="1097280" cy="36576"/>
          </a:xfrm>
          <a:prstGeom prst="rect">
            <a:avLst/>
          </a:prstGeom>
          <a:solidFill>
            <a:srgbClr val="2563A8"/>
          </a:solidFill>
          <a:ln/>
        </p:spPr>
      </p:sp>
      <p:sp>
        <p:nvSpPr>
          <p:cNvPr id="7" name="Shape 5"/>
          <p:cNvSpPr/>
          <p:nvPr/>
        </p:nvSpPr>
        <p:spPr>
          <a:xfrm>
            <a:off x="411480" y="1389888"/>
            <a:ext cx="2651760" cy="3438144"/>
          </a:xfrm>
          <a:prstGeom prst="rect">
            <a:avLst/>
          </a:prstGeom>
          <a:solidFill>
            <a:srgbClr val="243D5C"/>
          </a:solidFill>
          <a:ln w="9525">
            <a:solidFill>
              <a:srgbClr val="2E4A66"/>
            </a:solidFill>
            <a:prstDash val="solid"/>
          </a:ln>
        </p:spPr>
      </p:sp>
      <p:sp>
        <p:nvSpPr>
          <p:cNvPr id="8" name="Shape 6"/>
          <p:cNvSpPr/>
          <p:nvPr/>
        </p:nvSpPr>
        <p:spPr>
          <a:xfrm>
            <a:off x="411480" y="1389888"/>
            <a:ext cx="54864" cy="3438144"/>
          </a:xfrm>
          <a:prstGeom prst="rect">
            <a:avLst/>
          </a:prstGeom>
          <a:solidFill>
            <a:srgbClr val="2563A8"/>
          </a:solidFill>
          <a:ln/>
        </p:spPr>
      </p:sp>
      <p:sp>
        <p:nvSpPr>
          <p:cNvPr id="9" name="Shape 7"/>
          <p:cNvSpPr/>
          <p:nvPr/>
        </p:nvSpPr>
        <p:spPr>
          <a:xfrm>
            <a:off x="576072" y="1536192"/>
            <a:ext cx="329184" cy="329184"/>
          </a:xfrm>
          <a:prstGeom prst="rect">
            <a:avLst/>
          </a:prstGeom>
          <a:solidFill>
            <a:srgbClr val="2563A8"/>
          </a:solidFill>
          <a:ln/>
        </p:spPr>
      </p:sp>
      <p:sp>
        <p:nvSpPr>
          <p:cNvPr id="10" name="Text 8"/>
          <p:cNvSpPr/>
          <p:nvPr/>
        </p:nvSpPr>
        <p:spPr>
          <a:xfrm>
            <a:off x="576072" y="15361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612648" y="1975104"/>
            <a:ext cx="2331720" cy="365760"/>
          </a:xfrm>
          <a:prstGeom prst="rect">
            <a:avLst/>
          </a:prstGeom>
          <a:noFill/>
          <a:ln/>
        </p:spPr>
        <p:txBody>
          <a:bodyPr wrap="square" rtlCol="0" anchor="ctr"/>
          <a:lstStyle/>
          <a:p>
            <a:pPr indent="0" marL="0">
              <a:lnSpc>
                <a:spcPct val="115000"/>
              </a:lnSpc>
              <a:buNone/>
            </a:pPr>
            <a:r>
              <a:rPr lang="en-US" sz="1200" b="1" dirty="0">
                <a:solidFill>
                  <a:srgbClr val="FFFFFF"/>
                </a:solidFill>
                <a:latin typeface="Calibri" pitchFamily="34" charset="0"/>
                <a:ea typeface="Calibri" pitchFamily="34" charset="-122"/>
                <a:cs typeface="Calibri" pitchFamily="34" charset="-120"/>
              </a:rPr>
              <a:t>Real-World Relevance</a:t>
            </a:r>
            <a:endParaRPr lang="en-US" sz="1200" dirty="0"/>
          </a:p>
        </p:txBody>
      </p:sp>
      <p:sp>
        <p:nvSpPr>
          <p:cNvPr id="12" name="Text 10"/>
          <p:cNvSpPr/>
          <p:nvPr/>
        </p:nvSpPr>
        <p:spPr>
          <a:xfrm>
            <a:off x="612648" y="2414016"/>
            <a:ext cx="2331720" cy="2212848"/>
          </a:xfrm>
          <a:prstGeom prst="rect">
            <a:avLst/>
          </a:prstGeom>
          <a:noFill/>
          <a:ln/>
        </p:spPr>
        <p:txBody>
          <a:bodyPr wrap="square" rtlCol="0" anchor="ctr"/>
          <a:lstStyle/>
          <a:p>
            <a:pPr indent="0" marL="0">
              <a:lnSpc>
                <a:spcPct val="150000"/>
              </a:lnSpc>
              <a:buNone/>
            </a:pPr>
            <a:r>
              <a:rPr lang="en-US" sz="1050" dirty="0">
                <a:solidFill>
                  <a:srgbClr val="A8BECF"/>
                </a:solidFill>
                <a:latin typeface="Calibri" pitchFamily="34" charset="0"/>
                <a:ea typeface="Calibri" pitchFamily="34" charset="-122"/>
                <a:cs typeface="Calibri" pitchFamily="34" charset="-120"/>
              </a:rPr>
              <a:t>The system targets a genuine operational gap in how events are managed and validated, providing a cloud-native alternative to manual processes.</a:t>
            </a:r>
            <a:endParaRPr lang="en-US" sz="1050" dirty="0"/>
          </a:p>
        </p:txBody>
      </p:sp>
      <p:sp>
        <p:nvSpPr>
          <p:cNvPr id="13" name="Shape 11"/>
          <p:cNvSpPr/>
          <p:nvPr/>
        </p:nvSpPr>
        <p:spPr>
          <a:xfrm>
            <a:off x="3227832" y="1389888"/>
            <a:ext cx="2651760" cy="3438144"/>
          </a:xfrm>
          <a:prstGeom prst="rect">
            <a:avLst/>
          </a:prstGeom>
          <a:solidFill>
            <a:srgbClr val="243D5C"/>
          </a:solidFill>
          <a:ln w="9525">
            <a:solidFill>
              <a:srgbClr val="2E4A66"/>
            </a:solidFill>
            <a:prstDash val="solid"/>
          </a:ln>
        </p:spPr>
      </p:sp>
      <p:sp>
        <p:nvSpPr>
          <p:cNvPr id="14" name="Shape 12"/>
          <p:cNvSpPr/>
          <p:nvPr/>
        </p:nvSpPr>
        <p:spPr>
          <a:xfrm>
            <a:off x="3227832" y="1389888"/>
            <a:ext cx="54864" cy="3438144"/>
          </a:xfrm>
          <a:prstGeom prst="rect">
            <a:avLst/>
          </a:prstGeom>
          <a:solidFill>
            <a:srgbClr val="2563A8"/>
          </a:solidFill>
          <a:ln/>
        </p:spPr>
      </p:sp>
      <p:sp>
        <p:nvSpPr>
          <p:cNvPr id="15" name="Shape 13"/>
          <p:cNvSpPr/>
          <p:nvPr/>
        </p:nvSpPr>
        <p:spPr>
          <a:xfrm>
            <a:off x="3392424" y="1536192"/>
            <a:ext cx="329184" cy="329184"/>
          </a:xfrm>
          <a:prstGeom prst="rect">
            <a:avLst/>
          </a:prstGeom>
          <a:solidFill>
            <a:srgbClr val="2563A8"/>
          </a:solidFill>
          <a:ln/>
        </p:spPr>
      </p:sp>
      <p:sp>
        <p:nvSpPr>
          <p:cNvPr id="16" name="Text 14"/>
          <p:cNvSpPr/>
          <p:nvPr/>
        </p:nvSpPr>
        <p:spPr>
          <a:xfrm>
            <a:off x="3392424" y="15361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5"/>
          <p:cNvSpPr/>
          <p:nvPr/>
        </p:nvSpPr>
        <p:spPr>
          <a:xfrm>
            <a:off x="3429000" y="1975104"/>
            <a:ext cx="2331720" cy="365760"/>
          </a:xfrm>
          <a:prstGeom prst="rect">
            <a:avLst/>
          </a:prstGeom>
          <a:noFill/>
          <a:ln/>
        </p:spPr>
        <p:txBody>
          <a:bodyPr wrap="square" rtlCol="0" anchor="ctr"/>
          <a:lstStyle/>
          <a:p>
            <a:pPr indent="0" marL="0">
              <a:lnSpc>
                <a:spcPct val="115000"/>
              </a:lnSpc>
              <a:buNone/>
            </a:pPr>
            <a:r>
              <a:rPr lang="en-US" sz="1200" b="1" dirty="0">
                <a:solidFill>
                  <a:srgbClr val="FFFFFF"/>
                </a:solidFill>
                <a:latin typeface="Calibri" pitchFamily="34" charset="0"/>
                <a:ea typeface="Calibri" pitchFamily="34" charset="-122"/>
                <a:cs typeface="Calibri" pitchFamily="34" charset="-120"/>
              </a:rPr>
              <a:t>Complete Cloud Development</a:t>
            </a:r>
            <a:endParaRPr lang="en-US" sz="1200" dirty="0"/>
          </a:p>
        </p:txBody>
      </p:sp>
      <p:sp>
        <p:nvSpPr>
          <p:cNvPr id="18" name="Text 16"/>
          <p:cNvSpPr/>
          <p:nvPr/>
        </p:nvSpPr>
        <p:spPr>
          <a:xfrm>
            <a:off x="3429000" y="2414016"/>
            <a:ext cx="2331720" cy="2212848"/>
          </a:xfrm>
          <a:prstGeom prst="rect">
            <a:avLst/>
          </a:prstGeom>
          <a:noFill/>
          <a:ln/>
        </p:spPr>
        <p:txBody>
          <a:bodyPr wrap="square" rtlCol="0" anchor="ctr"/>
          <a:lstStyle/>
          <a:p>
            <a:pPr indent="0" marL="0">
              <a:lnSpc>
                <a:spcPct val="150000"/>
              </a:lnSpc>
              <a:buNone/>
            </a:pPr>
            <a:r>
              <a:rPr lang="en-US" sz="1050" dirty="0">
                <a:solidFill>
                  <a:srgbClr val="A8BECF"/>
                </a:solidFill>
                <a:latin typeface="Calibri" pitchFamily="34" charset="0"/>
                <a:ea typeface="Calibri" pitchFamily="34" charset="-122"/>
                <a:cs typeface="Calibri" pitchFamily="34" charset="-120"/>
              </a:rPr>
              <a:t>Full-stack implementation across eight AWS services, covering compute, storage, networking, and serverless components with a defined CI/CD pipeline.</a:t>
            </a:r>
            <a:endParaRPr lang="en-US" sz="1050" dirty="0"/>
          </a:p>
        </p:txBody>
      </p:sp>
      <p:sp>
        <p:nvSpPr>
          <p:cNvPr id="19" name="Shape 17"/>
          <p:cNvSpPr/>
          <p:nvPr/>
        </p:nvSpPr>
        <p:spPr>
          <a:xfrm>
            <a:off x="6044184" y="1389888"/>
            <a:ext cx="2651760" cy="3438144"/>
          </a:xfrm>
          <a:prstGeom prst="rect">
            <a:avLst/>
          </a:prstGeom>
          <a:solidFill>
            <a:srgbClr val="243D5C"/>
          </a:solidFill>
          <a:ln w="9525">
            <a:solidFill>
              <a:srgbClr val="2E4A66"/>
            </a:solidFill>
            <a:prstDash val="solid"/>
          </a:ln>
        </p:spPr>
      </p:sp>
      <p:sp>
        <p:nvSpPr>
          <p:cNvPr id="20" name="Shape 18"/>
          <p:cNvSpPr/>
          <p:nvPr/>
        </p:nvSpPr>
        <p:spPr>
          <a:xfrm>
            <a:off x="6044184" y="1389888"/>
            <a:ext cx="54864" cy="3438144"/>
          </a:xfrm>
          <a:prstGeom prst="rect">
            <a:avLst/>
          </a:prstGeom>
          <a:solidFill>
            <a:srgbClr val="2563A8"/>
          </a:solidFill>
          <a:ln/>
        </p:spPr>
      </p:sp>
      <p:sp>
        <p:nvSpPr>
          <p:cNvPr id="21" name="Shape 19"/>
          <p:cNvSpPr/>
          <p:nvPr/>
        </p:nvSpPr>
        <p:spPr>
          <a:xfrm>
            <a:off x="6208776" y="1536192"/>
            <a:ext cx="329184" cy="329184"/>
          </a:xfrm>
          <a:prstGeom prst="rect">
            <a:avLst/>
          </a:prstGeom>
          <a:solidFill>
            <a:srgbClr val="2563A8"/>
          </a:solidFill>
          <a:ln/>
        </p:spPr>
      </p:sp>
      <p:sp>
        <p:nvSpPr>
          <p:cNvPr id="22" name="Text 20"/>
          <p:cNvSpPr/>
          <p:nvPr/>
        </p:nvSpPr>
        <p:spPr>
          <a:xfrm>
            <a:off x="6208776" y="15361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ext 21"/>
          <p:cNvSpPr/>
          <p:nvPr/>
        </p:nvSpPr>
        <p:spPr>
          <a:xfrm>
            <a:off x="6245352" y="1975104"/>
            <a:ext cx="2331720" cy="365760"/>
          </a:xfrm>
          <a:prstGeom prst="rect">
            <a:avLst/>
          </a:prstGeom>
          <a:noFill/>
          <a:ln/>
        </p:spPr>
        <p:txBody>
          <a:bodyPr wrap="square" rtlCol="0" anchor="ctr"/>
          <a:lstStyle/>
          <a:p>
            <a:pPr indent="0" marL="0">
              <a:lnSpc>
                <a:spcPct val="115000"/>
              </a:lnSpc>
              <a:buNone/>
            </a:pPr>
            <a:r>
              <a:rPr lang="en-US" sz="1200" b="1" dirty="0">
                <a:solidFill>
                  <a:srgbClr val="FFFFFF"/>
                </a:solidFill>
                <a:latin typeface="Calibri" pitchFamily="34" charset="0"/>
                <a:ea typeface="Calibri" pitchFamily="34" charset="-122"/>
                <a:cs typeface="Calibri" pitchFamily="34" charset="-120"/>
              </a:rPr>
              <a:t>Academic Compliance</a:t>
            </a:r>
            <a:endParaRPr lang="en-US" sz="1200" dirty="0"/>
          </a:p>
        </p:txBody>
      </p:sp>
      <p:sp>
        <p:nvSpPr>
          <p:cNvPr id="24" name="Text 22"/>
          <p:cNvSpPr/>
          <p:nvPr/>
        </p:nvSpPr>
        <p:spPr>
          <a:xfrm>
            <a:off x="6245352" y="2414016"/>
            <a:ext cx="2331720" cy="2212848"/>
          </a:xfrm>
          <a:prstGeom prst="rect">
            <a:avLst/>
          </a:prstGeom>
          <a:noFill/>
          <a:ln/>
        </p:spPr>
        <p:txBody>
          <a:bodyPr wrap="square" rtlCol="0" anchor="ctr"/>
          <a:lstStyle/>
          <a:p>
            <a:pPr indent="0" marL="0">
              <a:lnSpc>
                <a:spcPct val="150000"/>
              </a:lnSpc>
              <a:buNone/>
            </a:pPr>
            <a:r>
              <a:rPr lang="en-US" sz="1050" dirty="0">
                <a:solidFill>
                  <a:srgbClr val="A8BECF"/>
                </a:solidFill>
                <a:latin typeface="Calibri" pitchFamily="34" charset="0"/>
                <a:ea typeface="Calibri" pitchFamily="34" charset="-122"/>
                <a:cs typeface="Calibri" pitchFamily="34" charset="-120"/>
              </a:rPr>
              <a:t>Covers all module requirements: CRUD operations, a custom OOP library, multi-service AWS integration, and cloud deployment.</a:t>
            </a:r>
            <a:endParaRPr lang="en-US" sz="1050" dirty="0"/>
          </a:p>
        </p:txBody>
      </p:sp>
      <p:sp>
        <p:nvSpPr>
          <p:cNvPr id="25" name="Text 23"/>
          <p:cNvSpPr/>
          <p:nvPr/>
        </p:nvSpPr>
        <p:spPr>
          <a:xfrm>
            <a:off x="8732520" y="4846320"/>
            <a:ext cx="320040" cy="201168"/>
          </a:xfrm>
          <a:prstGeom prst="rect">
            <a:avLst/>
          </a:prstGeom>
          <a:noFill/>
          <a:ln/>
        </p:spPr>
        <p:txBody>
          <a:bodyPr wrap="square" rtlCol="0" anchor="ctr"/>
          <a:lstStyle/>
          <a:p>
            <a:pPr algn="r" indent="0" marL="0">
              <a:buNone/>
            </a:pPr>
            <a:r>
              <a:rPr lang="en-US" sz="800" dirty="0">
                <a:solidFill>
                  <a:srgbClr val="8096AE"/>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Cloud-Based Event Registration and QR Ticket Validation System</dc:title>
  <dc:subject>PptxGenJS Presentation</dc:subject>
  <dc:creator>MSc Cloud Computing</dc:creator>
  <cp:lastModifiedBy>MSc Cloud Computing</cp:lastModifiedBy>
  <cp:revision>1</cp:revision>
  <dcterms:created xsi:type="dcterms:W3CDTF">2026-02-15T12:43:00Z</dcterms:created>
  <dcterms:modified xsi:type="dcterms:W3CDTF">2026-02-15T12:43:00Z</dcterms:modified>
</cp:coreProperties>
</file>